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linear-gradient(155deg, #0E3F8C 0%, #1E4FA8 62%, #2A5FB8 100%)', fontFamily: &quot;'Source Han Sans SC','Noto Sans SC','Microsoft YaHei',sans-serif&quot;, position: 'relative', flexDirection: 'column', justifyContent: 'center', alignItems: 'center' }}&gt;&#10;    &lt;Box style={{ position: 'absolute', top: -120, right: -100, width: 420, height: 420, borderRadius: 210, background: 'rgba(255,255,255,0.05)' }} /&gt;&#10;    &lt;Box style={{ position: 'absolute', bottom: -160, left: -120, width: 520, height: 520, borderRadius: 260, background: 'rgba(255,255,255,0.04)' }} /&gt;&#10;    &lt;Box style={{ position: 'absolute', top: 64, left: 0, width: 1280, flexDirection: 'row', justifyContent: 'center' }}&gt;&#10;        &lt;Box style={{ padding: '8px 26px', borderRadius: 20, border: '1px solid rgba(255,255,255,0.45)' }}&gt;&#10;            &lt;Text style={{ fontSize: 16, color: '#FFFFFF', letterSpacing: 4 }}&gt;人机工程学课程 · 设计前期调研报告&lt;/Text&gt;&#10;        &lt;/Box&gt;&#10;    &lt;/Box&gt;&#10;    &lt;Box style={{ flexDirection: 'column', alignItems: 'center', gap: 26, marginTop: 20 }}&gt;&#10;        &lt;Text style={{ fontSize: 60, fontWeight: 'bold', color: '#FFFFFF', letterSpacing: 4 }}&gt;摩托车头盔通风消毒装置&lt;/Text&gt;&#10;        &lt;Text style={{ fontSize: 38, fontWeight: 'bold', color: '#E8EFF8', letterSpacing: 3 }}&gt;设计前期调研 —— 人体工程学专项分析&lt;/Text&gt;&#10;        &lt;Text style={{ fontSize: 18, color: 'rgba(255,255,255,0.75)', letterSpacing: 1 }}&gt;Ergonomics-Oriented Pre-design Research on Motorcycle Helmet Ventilating &amp;amp; Sterilizing Device&lt;/Text&gt;&#10;    &lt;/Box&gt;&#10;    &lt;Box style={{ width: 560, height: 1, background: 'rgba(255,255,255,0.35)', marginTop: 40 }} /&gt;&#10;    &lt;Box style={{ flexDirection: 'row', gap: 46, marginTop: 30 }}&gt;&#10;        &lt;Text style={{ fontSize: 17, color: 'rgba(255,255,255,0.85)' }}&gt;目标用户分析&lt;/Text&gt;&#10;        &lt;Text style={{ fontSize: 17, color: 'rgba(255,255,255,0.85)' }}&gt;操作动作分析&lt;/Text&gt;&#10;        &lt;Text style={{ fontSize: 17, color: 'rgba(255,255,255,0.85)' }}&gt;人体工学数据推导&lt;/Text&gt;&#10;        &lt;Text style={{ fontSize: 17, color: 'rgba(255,255,255,0.85)' }}&gt;竞品分析&lt;/Text&gt;&#10;    &lt;/Box&gt;&#10;    &lt;Box style={{ position: 'absolute', bottom: 56, left: 0, width: 1280, flexDirection: 'row', justifyContent: 'center' }}&gt;&#10;        &lt;Text style={{ fontSize: 16, color: 'rgba(255,255,255,0.7)' }}&gt;数据依据：GB/T 10000-1988 · GB 811-2010 · 公安部交管部门统计 · 项目需求 brief · 厂商公开产品参数　　2026 年 10 月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C3677"/>
              </a:gs>
              <a:gs pos="62000">
                <a:srgbClr val="1A438F"/>
              </a:gs>
              <a:gs pos="100000">
                <a:srgbClr val="24519C"/>
              </a:gs>
            </a:gsLst>
            <a:lin ang="3900000" scaled="1"/>
          </a:gra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2743200" y="2171700"/>
            <a:ext cx="67056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 spc="300">
                <a:solidFill>
                  <a:srgbClr val="FFFFFF"/>
                </a:solidFill>
                <a:latin typeface="Source Han Sans SC"/>
                <a:ea typeface="Source Han Sans SC"/>
              </a:rPr>
              <a:t>摩托车头盔通风消毒装置</a:t>
            </a:r>
            <a:endParaRPr lang="zh-CN" sz="4500" b="1" spc="300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2714625" y="3105150"/>
            <a:ext cx="6772275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设计前期调研</a:t>
            </a:r>
            <a:r>
              <a:rPr lang="en-US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 —— </a:t>
            </a:r>
            <a:r>
              <a:rPr lang="zh-CN" sz="2850" b="1" spc="225">
                <a:solidFill>
                  <a:srgbClr val="DEE8F5"/>
                </a:solidFill>
                <a:latin typeface="Source Han Sans SC"/>
                <a:ea typeface="Source Han Sans SC"/>
              </a:rPr>
              <a:t>人体工程学专项分析</a:t>
            </a:r>
            <a:endParaRPr lang="zh-CN" sz="2850" b="1" spc="225">
              <a:solidFill>
                <a:srgbClr val="DEE8F5"/>
              </a:solidFill>
              <a:latin typeface="Source Han Sans SC"/>
              <a:ea typeface="Source Han Sans SC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2057400" y="3790950"/>
            <a:ext cx="8077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Ergonomics-Oriented Pre-design Research on Motorcycle Helmet Ventilating &amp; Sterilizing Device</a:t>
            </a:r>
            <a:endParaRPr lang="en-US" sz="1350" spc="75">
              <a:solidFill>
                <a:srgbClr val="FFFFFF">
                  <a:alpha val="7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29000" y="4381500"/>
            <a:ext cx="5334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3495675" y="4676775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目标用户分析</a:t>
            </a:r>
            <a:endParaRPr lang="zh-CN" sz="1275">
              <a:solidFill>
                <a:srgbClr val="FFFFFF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4905375" y="4676775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操作动作分析</a:t>
            </a:r>
            <a:endParaRPr lang="zh-CN" sz="1275">
              <a:solidFill>
                <a:srgbClr val="FFFFFF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6315075" y="4676775"/>
            <a:ext cx="1295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人体工学数据推导</a:t>
            </a:r>
            <a:endParaRPr lang="zh-CN" sz="1275">
              <a:solidFill>
                <a:srgbClr val="FFFFFF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048625" y="46767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竞品分析</a:t>
            </a:r>
            <a:endParaRPr lang="zh-CN" sz="1275">
              <a:solidFill>
                <a:srgbClr val="FFFFFF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144000" y="-11430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12" name="圆角矩形 11"/>
          <p:cNvSpPr/>
          <p:nvPr/>
        </p:nvSpPr>
        <p:spPr>
          <a:xfrm>
            <a:off x="-1143000" y="3429000"/>
            <a:ext cx="4953000" cy="495300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13" name="圆角矩形 12"/>
          <p:cNvSpPr/>
          <p:nvPr/>
        </p:nvSpPr>
        <p:spPr>
          <a:xfrm>
            <a:off x="4248150" y="609600"/>
            <a:ext cx="3695700" cy="342900"/>
          </a:xfrm>
          <a:prstGeom prst="roundRect">
            <a:avLst>
              <a:gd name="adj" fmla="val 55556"/>
            </a:avLst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495800" y="685800"/>
            <a:ext cx="3200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人机工程学课程</a:t>
            </a:r>
            <a:r>
              <a:rPr lang="en-US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200" spc="300">
                <a:solidFill>
                  <a:srgbClr val="FFFFFF"/>
                </a:solidFill>
                <a:latin typeface="Source Han Sans SC"/>
                <a:ea typeface="Source Han Sans SC"/>
              </a:rPr>
              <a:t>设计前期调研报告</a:t>
            </a:r>
            <a:endParaRPr lang="zh-CN" sz="1200" spc="300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924050" y="6134100"/>
            <a:ext cx="83439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数据依据：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GB/T 10000-1988 · GB 811-2010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公安部交管部门统计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项目需求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brief ·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厂商公开产品参数　　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2026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年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10 </a:t>
            </a:r>
            <a:r>
              <a:rPr lang="zh-CN" sz="1200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月</a:t>
            </a:r>
            <a:endParaRPr lang="zh-CN" sz="1200">
              <a:solidFill>
                <a:srgbClr val="FFFFFF">
                  <a:alpha val="70000"/>
                </a:srgbClr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 descr="&lt;Slide style={{ width: 1280, height: 720, background: '#FFFFFF', fontFamily: &quot;'Source Han Sans SC','Noto Sans SC','Microsoft YaHei',sans-serif&quot; }}&gt;&#10;    &lt;Box style={{ flexDirection: 'row', height: '100%' }}&gt;&#10;        &lt;Box style={{ width: 360, height: '100%', background: '#0E3F8C', padding: '80px 44px', justifyContent: 'space-between' }}&gt;&#10;            &lt;Box style={{ flexDirection: 'column', gap: 18 }}&gt;&#10;                &lt;Text style={{ fontSize: 52, fontWeight: 'bold', color: '#FFFFFF', letterSpacing: 8 }}&gt;目录&lt;/Text&gt;&#10;                &lt;Text style={{ fontSize: 18, color: 'rgba(255,255,255,0.65)', letterSpacing: 5 }}&gt;CONTENTS&lt;/Text&gt;&#10;            &lt;/Box&gt;&#10;            &lt;Box style={{ flexDirection: 'column', gap: 10 }}&gt;&#10;                &lt;Box style={{ width: 44, height: 4, background: '#FFC107' }} /&gt;&#10;                &lt;Text style={{ fontSize: 15, color: 'rgba(255,255,255,0.75)', lineHeight: 1.7 }}&gt;本报告面向课程作业评审，全部数据均来自国家标准、权威公开报道与厂商公开产品资料，逐页标注来源。&lt;/Text&gt;&#10;            &lt;/Box&gt;&#10;        &lt;/Box&gt;&#10;        &lt;Box style={{ flex: 1, padding: '86px 64px 60px 64px', flexDirection: 'column', justifyContent: 'space-between' }}&gt;&#10;            &lt;Box style={{ flexDirection: 'row', alignItems: 'center', gap: 28, paddingBottom: 26, borderBottom: '1px solid #D6DCE5' }}&gt;&#10;                &lt;Text style={{ fontSize: 46, fontWeight: 'bold', color: '#1E4FA8' }}&gt;01&lt;/Text&gt;&#10;                &lt;Box style={{ flexDirection: 'column', gap: 8, flex: 1 }}&gt;&#10;                    &lt;Text style={{ fontSize: 27, fontWeight: 'bold', color: '#0E3F8C' }}&gt;调研背景与目标用户&lt;/Text&gt;&#10;                    &lt;Text style={{ fontSize: 19, color: '#4A5568', lineHeight: 1.5 }}&gt;行业规模数据 · 摩友用户画像 · 使用场景与问题定义　&lt;span style={{ color: '#8B97A8' }}&gt;（P04–P07）&lt;/span&gt;&lt;/Text&gt;&#10;                &lt;/Box&gt;&#10;            &lt;/Box&gt;&#10;            &lt;Box style={{ flexDirection: 'row', alignItems: 'center', gap: 28, paddingBottom: 26, borderBottom: '1px solid #D6DCE5' }}&gt;&#10;                &lt;Text style={{ fontSize: 46, fontWeight: 'bold', color: '#1E4FA8' }}&gt;02&lt;/Text&gt;&#10;                &lt;Box style={{ flexDirection: 'column', gap: 8, flex: 1 }}&gt;&#10;                    &lt;Text style={{ fontSize: 27, fontWeight: 'bold', color: '#0E3F8C' }}&gt;人体工学专项分析 &lt;span style={{ fontSize: 17, color: '#FFFFFF', background: '#1E4FA8', borderRadius: 10, padding: '3px 12px' }}&gt;报告重点&lt;/span&gt;&lt;/Text&gt;&#10;                    &lt;Text style={{ fontSize: 19, color: '#4A5568', lineHeight: 1.5 }}&gt;头部尺寸与舱体内腔 · 头盔质量与取放负荷 · 立姿取放高度推导 · 操作动作分解　&lt;span style={{ color: '#8B97A8' }}&gt;（P09–P12）&lt;/span&gt;&lt;/Text&gt;&#10;                &lt;/Box&gt;&#10;            &lt;/Box&gt;&#10;            &lt;Box style={{ flexDirection: 'row', alignItems: 'center', gap: 28, paddingBottom: 26, borderBottom: '1px solid #D6DCE5' }}&gt;&#10;                &lt;Text style={{ fontSize: 46, fontWeight: 'bold', color: '#1E4FA8' }}&gt;03&lt;/Text&gt;&#10;                &lt;Box style={{ flexDirection: 'column', gap: 8, flex: 1 }}&gt;&#10;                    &lt;Text style={{ fontSize: 27, fontWeight: 'bold', color: '#0E3F8C' }}&gt;竞品分析与设计建议&lt;/Text&gt;&#10;                    &lt;Text style={{ fontSize: 19, color: '#4A5568', lineHeight: 1.5 }}&gt;公开竞品参数对照 · 人机匹配性评价 · 数据推导的设计建议　&lt;span style={{ color: '#8B97A8' }}&gt;（P13–P15）&lt;/span&gt;&lt;/Text&gt;&#10;                &lt;/Box&gt;&#10;            &lt;/Box&gt;&#10;            &lt;Box style={{ background: '#F0F5FC', borderRadius: 10, padding: '18px 26px' }}&gt;&#10;                &lt;Text style={{ fontSize: 19, color: '#0E3F8C', lineHeight: 1.6 }}&gt;分析路径：用户数据 → 人体尺寸数据 → 操作动作分解 → 竞品参数对照 → 设计建议；不引入任何无来源的参数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矩形 1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1" name="矩形 19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C3677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419100" y="762000"/>
            <a:ext cx="25908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 spc="600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 lang="zh-CN" sz="3900" b="1" spc="600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419100" y="1533525"/>
            <a:ext cx="2590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75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CONTENTS</a:t>
            </a:r>
            <a:endParaRPr lang="en-US" sz="1350" spc="375">
              <a:solidFill>
                <a:srgbClr val="FFFFFF">
                  <a:alpha val="6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419100" y="5086350"/>
            <a:ext cx="419100" cy="38100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419100" y="5219700"/>
            <a:ext cx="259080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本报告面向课程作业评审，全部数据均来自国家标准、权威公开报道与厂商公开产品资料，逐页标注来源。</a:t>
            </a:r>
            <a:endParaRPr lang="zh-CN" sz="1125">
              <a:solidFill>
                <a:srgbClr val="FFFFFF">
                  <a:alpha val="7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96" name="任意多边形 195"/>
          <p:cNvSpPr/>
          <p:nvPr/>
        </p:nvSpPr>
        <p:spPr>
          <a:xfrm>
            <a:off x="4038600" y="819150"/>
            <a:ext cx="7543800" cy="990600"/>
          </a:xfrm>
          <a:custGeom>
            <a:avLst/>
            <a:gdLst/>
            <a:ahLst/>
            <a:cxnLst/>
            <a:pathLst>
              <a:path w="792" h="104">
                <a:moveTo>
                  <a:pt x="0" y="103"/>
                </a:moveTo>
                <a:lnTo>
                  <a:pt x="792" y="103"/>
                </a:lnTo>
                <a:lnTo>
                  <a:pt x="792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038600" y="914400"/>
            <a:ext cx="457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01</a:t>
            </a:r>
            <a:endParaRPr lang="en-US" sz="34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762500" y="819150"/>
            <a:ext cx="68199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调研背景与目标用户</a:t>
            </a:r>
            <a:endParaRPr lang="zh-CN" sz="20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762500" y="1209675"/>
            <a:ext cx="6819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行业规模数据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摩友用户画像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使用场景与问题定义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P04–P07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  <a:endParaRPr lang="zh-CN" sz="14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00" name="任意多边形 199"/>
          <p:cNvSpPr/>
          <p:nvPr/>
        </p:nvSpPr>
        <p:spPr>
          <a:xfrm>
            <a:off x="4038600" y="2190750"/>
            <a:ext cx="7543800" cy="1314450"/>
          </a:xfrm>
          <a:custGeom>
            <a:avLst/>
            <a:gdLst/>
            <a:ahLst/>
            <a:cxnLst/>
            <a:pathLst>
              <a:path w="792" h="138">
                <a:moveTo>
                  <a:pt x="0" y="137"/>
                </a:moveTo>
                <a:lnTo>
                  <a:pt x="792" y="137"/>
                </a:lnTo>
                <a:lnTo>
                  <a:pt x="792" y="138"/>
                </a:lnTo>
                <a:lnTo>
                  <a:pt x="0" y="138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038600" y="2447925"/>
            <a:ext cx="457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02</a:t>
            </a:r>
            <a:endParaRPr lang="en-US" sz="34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4762500" y="2190750"/>
            <a:ext cx="68199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人体工学专项分析</a:t>
            </a:r>
            <a:r>
              <a:rPr lang="en-US" sz="2025" b="1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endParaRPr lang="zh-CN" sz="1275" b="1">
              <a:solidFill>
                <a:schemeClr val="accent1">
                  <a:lumMod val="75000"/>
                </a:schemeClr>
              </a:solidFill>
              <a:latin typeface="Source Han Sans SC"/>
              <a:ea typeface="Source Han Sans SC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762500" y="2581275"/>
            <a:ext cx="68199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头部尺寸与舱体内腔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头盔质量与取放负荷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立姿取放高度推导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操作动作分解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P09–P12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  <a:endParaRPr lang="zh-CN" sz="14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4038600" y="3876675"/>
            <a:ext cx="7543800" cy="990600"/>
          </a:xfrm>
          <a:custGeom>
            <a:avLst/>
            <a:gdLst/>
            <a:ahLst/>
            <a:cxnLst/>
            <a:pathLst>
              <a:path w="792" h="104">
                <a:moveTo>
                  <a:pt x="0" y="103"/>
                </a:moveTo>
                <a:lnTo>
                  <a:pt x="792" y="103"/>
                </a:lnTo>
                <a:lnTo>
                  <a:pt x="792" y="104"/>
                </a:lnTo>
                <a:lnTo>
                  <a:pt x="0" y="104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038600" y="3971925"/>
            <a:ext cx="4572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A438F"/>
                </a:solidFill>
                <a:latin typeface="Source Han Sans SC"/>
                <a:ea typeface="Source Han Sans SC"/>
              </a:rPr>
              <a:t>03</a:t>
            </a:r>
            <a:endParaRPr lang="en-US" sz="34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762500" y="3876675"/>
            <a:ext cx="68199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0C3677"/>
                </a:solidFill>
                <a:latin typeface="Source Han Sans SC"/>
                <a:ea typeface="Source Han Sans SC"/>
              </a:rPr>
              <a:t>竞品分析与设计建议</a:t>
            </a:r>
            <a:endParaRPr lang="zh-CN" sz="20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762500" y="4267200"/>
            <a:ext cx="68199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公开竞品参数对照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人机匹配性评价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数据推导的设计建议　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425">
                <a:solidFill>
                  <a:srgbClr val="8B97A8"/>
                </a:solidFill>
                <a:latin typeface="Source Han Sans SC"/>
                <a:ea typeface="Source Han Sans SC"/>
              </a:rPr>
              <a:t>P13–P15</a:t>
            </a:r>
            <a:r>
              <a:rPr lang="zh-CN" sz="1425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  <a:endParaRPr lang="zh-CN" sz="14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4038600" y="5248275"/>
            <a:ext cx="7543800" cy="1038225"/>
          </a:xfrm>
          <a:prstGeom prst="roundRect">
            <a:avLst>
              <a:gd name="adj" fmla="val 9174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4286250" y="5419725"/>
            <a:ext cx="70485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分析路径：用户数据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人体尺寸数据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操作动作分解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竞品参数对照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设计建议；不引入任何无来源的参数。</a:t>
            </a:r>
            <a:endParaRPr lang="zh-CN" sz="1425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前言：调研任务、方法与数据边界&lt;/Text&gt;&#10;        &lt;/Box&gt;&#10;        &lt;Text style={{ fontSize: 15, color: '#8B97A8' }}&gt;调研说明&lt;/Text&gt;&#10;    &lt;/Box&gt;&#10;    &lt;Box style={{ flex: 1, padding: '16px 40px', flexDirection: 'column', gap: 14 }}&gt;&#10;        &lt;Box style={{ flex: 1, border: '1px solid #D6DCE5', borderRadius: 12, background: '#F7F9FC', padding: '18px 30px', flexDirection: 'column', gap: 14 }}&gt;&#10;            &lt;Box style={{ flexDirection: 'row', alignItems: 'center', gap: 12 }}&gt;&#10;                &lt;Box style={{ background: '#1E4FA8', borderRadius: 6, padding: '4px 14px' }}&gt;&lt;Text style={{ fontSize: 18, fontWeight: 'bold', color: '#FFFFFF' }}&gt;调研任务&lt;/Text&gt;&lt;/Box&gt;&#10;                &lt;Text style={{ fontSize: 22, fontWeight: 'bold', color: '#0E3F8C' }}&gt;围绕&quot;摩托车头盔通风消毒装置&quot;设计任务开展人机工程学前置调研&lt;/Text&gt;&#10;            &lt;/Box&gt;&#10;            &lt;Text style={{ fontSize: 22, color: '#1A2230', lineHeight: 1.6 }}&gt;&#10;                本次调研依据课程要求与项目需求 brief，围绕目标用户、操作动作分析、竞品分析三条线展开，为摩托车头盔通风消毒装置的方案设计提供人机数据支撑。为保证分析理性、结论可查，本报告不做主观臆测，仅采用四类可溯源资料：其一是国家标准，包括 GB/T 10000-1988《中国成年人人体尺寸》与 GB 811-2010《摩托车乘员头盔》，用于提供头部尺寸、头盔质量与规格等硬约束；其二是政府与行业统计，包括公安部交管部门摩托车保有量数据与中国摩托车商会年度数据，用于界定市场基本盘；其三是项目需求 brief 给定的人群画像、功能参数与尺寸红线，用于明确设计输入；其四是在售竞品的厂商及经销渠道公开产品参数（头盔医生 DH-H1、干博士 Dr.DRY、文铭机械、福意联），用于竞品对照。因条件所限，本次未开展姿态拍照的一手实测，涉及使用状态的判断均由上述公开资料推导，并在正文注明推导依据。&#10;            &lt;/Text&gt;&#10;        &lt;/Box&gt;&#10;        &lt;Box style={{ flexDirection: 'row', gap: 16 }}&gt;&#10;            &lt;Box style={{ flex: 1, background: '#1E4FA8', borderRadius: 10, padding: '12px 22px', alignItems: 'center' }}&gt;&#10;                &lt;Text style={{ fontSize: 21, fontWeight: 'bold', color: '#FFFFFF', textAlign: 'center' }}&gt;数据可追溯：每个关键数字标注来源&lt;/Text&gt;&#10;            &lt;/Box&gt;&#10;            &lt;Box style={{ flex: 1, background: '#E8EFF8', borderRadius: 10, padding: '12px 22px', alignItems: 'center' }}&gt;&#10;                &lt;Text style={{ fontSize: 21, fontWeight: 'bold', color: '#0E3F8C', textAlign: 'center' }}&gt;推导可复核：尺寸约束均给出百分位依据&lt;/Text&gt;&#10;            &lt;/Box&gt;&#10;            &lt;Box style={{ flex: 1, background: '#E8EFF8', borderRadius: 10, padding: '12px 22px', alignItems: 'center' }}&gt;&#10;                &lt;Text style={{ fontSize: 21, fontWeight: 'bold', color: '#0E3F8C', textAlign: 'center' }}&gt;不臆测：无一手数据的判断均注明推导方式&lt;/Text&gt;&#10;            &lt;/Box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摩托车头盔通风消毒装置 · 人机工程学前调研&lt;/Text&gt;&#10;        &lt;Text style={{ fontSize: 14, fontWeight: 'bold', color: '#1E4FA8' }}&gt;03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矩形 2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12" name="任意多边形 211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213" name="矩形 212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90550" y="257175"/>
            <a:ext cx="42862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调研任务、方法与数据边界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1239500" y="34290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调研说明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16" name="圆角矩形 215"/>
          <p:cNvSpPr/>
          <p:nvPr/>
        </p:nvSpPr>
        <p:spPr>
          <a:xfrm>
            <a:off x="381000" y="1028700"/>
            <a:ext cx="11430000" cy="3810033"/>
          </a:xfrm>
          <a:prstGeom prst="roundRect">
            <a:avLst>
              <a:gd name="adj" fmla="val 2637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7" name="圆角矩形 216"/>
          <p:cNvSpPr/>
          <p:nvPr/>
        </p:nvSpPr>
        <p:spPr>
          <a:xfrm>
            <a:off x="666750" y="1200150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800100" y="1238250"/>
            <a:ext cx="685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调研任务</a:t>
            </a:r>
            <a:endParaRPr lang="zh-CN" sz="1350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733550" y="1219200"/>
            <a:ext cx="60293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围绕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设计任务开展人机工程学前置调研</a:t>
            </a:r>
            <a:endParaRPr lang="zh-CN" sz="16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666750" y="1619250"/>
            <a:ext cx="10858500" cy="32194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本次调研依据课程要求与项目需求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brief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，围绕目标用户、操作动作分析、竞品分析三条线展开，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搜查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四类可溯源资料：</a:t>
            </a: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1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国家标准，包括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GB/T 10000-</a:t>
            </a:r>
            <a:r>
              <a:rPr lang="en-US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023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《中国成年人人体尺寸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》，</a:t>
            </a:r>
            <a:r>
              <a:rPr lang="en-US" alt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GB 811-2022</a:t>
            </a:r>
            <a:r>
              <a:rPr lang="zh-CN" alt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《摩托车、电动自行车乘员头盔》等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，用于提供头部尺寸、头盔质量与规格等硬约束；</a:t>
            </a: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政府与行业统计，包括公安部交管部门摩托车保有量数据与中国摩托车商会年度数据，用于界定市场基本盘；</a:t>
            </a: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en-US" alt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3.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项目需求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brief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给定的人群画像、功能参数与尺寸红线，用于明确设计输入；</a:t>
            </a: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en-US" altLang="zh-CN" sz="16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4.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在售竞品产品参数，用于竞品对照。</a:t>
            </a:r>
            <a:endParaRPr lang="zh-CN" sz="16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6626417" y="5109571"/>
            <a:ext cx="4491000" cy="714375"/>
          </a:xfrm>
          <a:prstGeom prst="roundRect">
            <a:avLst>
              <a:gd name="adj" fmla="val 13333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6878788" y="5342902"/>
            <a:ext cx="3200400" cy="2476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数据可追溯：每个关键数字标注来源</a:t>
            </a:r>
            <a:endParaRPr lang="zh-CN" sz="1575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225" name="圆角矩形 224"/>
          <p:cNvSpPr/>
          <p:nvPr/>
        </p:nvSpPr>
        <p:spPr>
          <a:xfrm>
            <a:off x="1127701" y="5109559"/>
            <a:ext cx="4495764" cy="714375"/>
          </a:xfrm>
          <a:prstGeom prst="roundRect">
            <a:avLst>
              <a:gd name="adj" fmla="val 13333"/>
            </a:avLst>
          </a:prstGeom>
          <a:solidFill>
            <a:srgbClr val="DEE8F5"/>
          </a:solidFill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961718" y="5338203"/>
            <a:ext cx="4210063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推导可复核：尺寸约束均给出百分位依据</a:t>
            </a:r>
            <a:endParaRPr lang="zh-CN" sz="157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27" name="矩形 226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228" name="任意多边形 227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381000" y="6543675"/>
            <a:ext cx="2533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人机工程学前调研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03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 descr="&lt;Slide style={{ width: 1280, height: 720, background: '#FFFFFF', fontFamily: &quot;'Source Han Sans SC','Noto Sans SC','Microsoft YaHei',sans-serif&quot;, position: 'relative' }}&gt;&#10;    &lt;Box style={{ position: 'absolute', bottom: -80, righ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1&lt;/Text&gt;&#10;        &lt;/Box&gt;&#10;        &lt;Box style={{ flex: 1, paddingLeft: 40, flexDirection: 'column', gap: 30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1&lt;/Text&gt;&#10;            &lt;/Box&gt;&#10;            &lt;Text style={{ fontSize: 46, fontWeight: 'bold', color: '#0E3F8C', letterSpacing: 2 }}&gt;调研背景与目标用户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摩托车保有量与大排量娱乐化趋势：需求的基本盘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盔卫生痛点与现有养护方式局限：来自 brief 的双痛点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摩友群体画像：为品质与仪式感付费的核心用户&lt;/Text&gt;&#10;                &lt;/Box&gt;&#10;            &lt;/Box&gt;&#10;            &lt;Box style={{ background: '#F0F5FC', borderRadius: 10, padding: '14px 22px', marginTop: 6 }}&gt;&#10;                &lt;Text style={{ fontSize: 19, color: '#0E3F8C', lineHeight: 1.6 }}&gt;本章数据来源：公安部交管部门统计（央视网 / 央广网报道）、中国摩托车商会、项目需求 brief《摩托车头盔通风消毒装置》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33" name="圆角矩形 232"/>
          <p:cNvSpPr/>
          <p:nvPr/>
        </p:nvSpPr>
        <p:spPr>
          <a:xfrm>
            <a:off x="91440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01</a:t>
            </a:r>
            <a:endParaRPr lang="en-US" sz="2250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4572000" y="1657350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200650" y="1562100"/>
            <a:ext cx="1390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01</a:t>
            </a:r>
            <a:endParaRPr lang="en-US" sz="1500" spc="3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4572000" y="2076450"/>
            <a:ext cx="72390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调研背景与目标用户</a:t>
            </a:r>
            <a:endParaRPr lang="zh-CN" sz="3450" b="1" spc="150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38" name="圆角矩形 237"/>
          <p:cNvSpPr/>
          <p:nvPr/>
        </p:nvSpPr>
        <p:spPr>
          <a:xfrm>
            <a:off x="4572000" y="2971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819650" y="2895600"/>
            <a:ext cx="48196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摩托车保有量与大排量娱乐化趋势：需求的基本盘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4572000" y="33909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4819650" y="3314700"/>
            <a:ext cx="53530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头盔卫生痛点与现有养护方式局限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572000" y="3810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4819650" y="3733800"/>
            <a:ext cx="46005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摩友群体画像：为品质与仪式感付费的核心用户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4572000" y="4343400"/>
            <a:ext cx="7239000" cy="962025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4781550" y="4476750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本章数据来源：公安部交管部门统计（央视网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央广网报道）、中国摩托车商会</a:t>
            </a:r>
            <a:r>
              <a:rPr lang="zh-CN" sz="1425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等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。</a:t>
            </a:r>
            <a:endParaRPr lang="zh-CN" sz="1425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 descr="&lt;Slide style={{ width: 1280, height: 720, background: '#FFFFFF', fontFamily: &quot;'Source Han Sans SC','Noto Sans SC','Microsoft YaHei',sans-serif&quot; }}&gt;&#13;&#10;    &lt;Box style={{ height: 92, flexDirection: 'row', justifyContent: 'space-between', alignItems: 'center', padding: '0 40px', borderBottom: '2px solid #1E4FA8' }}&gt;&#13;&#10;        &lt;Box style={{ flexDirection: 'row', alignItems: 'center', gap: 14 }}&gt;&#13;&#10;            &lt;Box style={{ width: 8, height: 40, background: '#1E4FA8' }} /&gt;&#13;&#10;            &lt;Text style={{ fontSize: 30, fontWeight: 'bold', color: '#0E3F8C' }}&gt;需求基础：四个可查证的关键数字&lt;/Text&gt;&#13;&#10;        &lt;/Box&gt;&#13;&#10;        &lt;Text style={{ fontSize: 15, color: '#8B97A8' }}&gt;01 调研背景与目标用户&lt;/Text&gt;&#13;&#10;    &lt;/Box&gt;&#13;&#10;    &lt;Box style={{ flex: 1, padding: '14px 40px', flexDirection: 'column', gap: 10 }}&gt;&#13;&#10;        &lt;Box style={{ background: '#F0F5FC', borderRadius: 10, padding: '9px 24px' }}&gt;&#13;&#10;            &lt;Text style={{ fontSize: 23, fontWeight: 'bold', color: '#0E3F8C' }}&gt;引导问题：为什么&quot;头盔养护&quot;是一个真实的、成规模的需求？&lt;/Text&gt;&#13;&#10;        &lt;/Box&gt;&#13;&#10;        &lt;Box style={{ flex: 1, flexDirection: 'row', gap: 16 }}&gt;&#13;&#10;            &lt;Box style={{ flex: 1, border: '1px solid #D6DCE5', borderRadius: 12, background: '#F7F9FC', padding: '16px 26px', justifyContent: 'center', gap: 8 }}&gt;&#13;&#10;                &lt;Text style={{ fontSize: 52, fontWeight: 'bold', color: '#1E4FA8' }}&gt;8576&lt;span style={{ fontSize: 30 }}&gt;万辆&lt;/span&gt;&lt;/Text&gt;&#13;&#10;                &lt;Text style={{ fontSize: 22, fontWeight: 'bold', color: '#1A2230' }}&gt;全国摩托车保有量（辆，截至 2024 年底）&lt;/Text&gt;&#13;&#10;                &lt;Text style={{ fontSize: 16, color: '#8B97A8' }}&gt;来源：交管部门统计（央视网 / 央广网报道，2025.05）&lt;/Text&gt;&#13;&#10;            &lt;/Box&gt;&#13;&#10;            &lt;Box style={{ flex: 1, border: '1px solid #D6DCE5', borderRadius: 12, background: '#F7F9FC', padding: '16px 26px', justifyContent: 'center', gap: 8 }}&gt;&#13;&#10;                &lt;Text style={{ fontSize: 52, fontWeight: 'bold', color: '#1E4FA8' }}&gt;约875&lt;span style={{ fontSize: 30 }}&gt;万辆&lt;/span&gt;&lt;/Text&gt;&#13;&#10;                &lt;Text style={{ fontSize: 22, fontWeight: 'bold', color: '#1A2230' }}&gt;2024 年新注册登记摩托车&lt;/Text&gt;&#13;&#10;                &lt;Text style={{ fontSize: 16, color: '#8B97A8' }}&gt;来源：中国摩托车商会（据公安部数据测算）&lt;/Text&gt;&#13;&#10;            &lt;/Box&gt;&#13;&#10;        &lt;/Box&gt;&#13;&#10;        &lt;Box style={{ flexDirection: 'row', gap: 16 }}&gt;&#13;&#10;            &lt;Box style={{ flex: 1, border: '1px solid #D6DCE5', borderRadius: 12, background: '#F7F9FC', padding: '16px 26px', justifyContent: 'center', gap: 8 }}&gt;&#13;&#10;                &lt;Text style={{ fontSize: 52, fontWeight: 'bold', color: '#D9534F' }}&gt;+42.97&lt;span style={{ fontSize: 30 }}&gt;%&lt;/span&gt;&lt;/Text&gt;&#13;&#10;                &lt;Text style={{ fontSize: 22, fontWeight: 'bold', color: '#1A2230' }}&gt;250cc 以上大排量休闲娱乐摩托车销量 75.66 万辆，同比增速&lt;/Text&gt;&#13;&#10;                &lt;Text style={{ fontSize: 16, color: '#8B97A8' }}&gt;来源：中国摩托车商会（央广网报道，2025.05）&lt;/Text&gt;&#13;&#10;            &lt;/Box&gt;&#13;&#10;            &lt;Box style={{ flex: 1, border: '1px solid #D6DCE5', borderRadius: 12, background: '#F7F9FC', padding: '16px 26px', justifyContent: 'center', gap: 8 }}&gt;&#13;&#10;                &lt;Text style={{ fontSize: 52, fontWeight: 'bold', color: '#1E4FA8' }}&gt;≥2000&lt;span style={{ fontSize: 30 }}&gt;元&lt;/span&gt;&lt;/Text&gt;&#13;&#10;                &lt;Text style={{ fontSize: 22, fontWeight: 'bold', color: '#1A2230' }}&gt;目标用户所持中高端全盔 / 拉力盔单价&lt;/Text&gt;&#13;&#10;                &lt;Text style={{ fontSize: 16, color: '#8B97A8' }}&gt;来源：项目需求 brief&quot;人群定位&quot;章节&lt;/Text&gt;&#13;&#10;            &lt;/Box&gt;&#13;&#10;        &lt;/Box&gt;&#13;&#10;        &lt;Box style={{ background: '#0E3F8C', borderRadius: 10, padding: '10px 26px' }}&gt;&#13;&#10;            &lt;Text style={{ fontSize: 20, fontWeight: 'bold', color: '#FFFFFF' }}&gt;判断：摩托车消费正从&quot;代步工具&quot;转向&quot;休闲社交&quot;（央视网，2025.05），摩友为装备品质付费的意愿明确——中高端全盔单价高、贴身使用频次高，头盔养护是真实、可支付的需求。&lt;/Text&gt;&#13;&#10;        &lt;/Box&gt;&#13;&#10;    &lt;/Box&gt;&#13;&#10;    &lt;Box style={{ height: 52, background: '#F7F9FC', borderTop: '1px solid #D6DCE5', flexDirection: 'row', justifyContent: 'space-between', alignItems: 'center', padding: '0 40px' }}&gt;&#13;&#10;        &lt;Text style={{ fontSize: 13, color: '#8B97A8' }}&gt;来源：央视网、央广网（2025.05）、中国摩托车商会官网、项目需求 brief&lt;/Text&gt;&#13;&#10;        &lt;Text style={{ fontSize: 14, fontWeight: 'bold', color: '#1E4FA8' }}&gt;0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矩形 2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48" name="任意多边形 24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249" name="矩形 24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590550" y="257175"/>
            <a:ext cx="42862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需求基础：四个可查证的关键数字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52" name="圆角矩形 251"/>
          <p:cNvSpPr/>
          <p:nvPr/>
        </p:nvSpPr>
        <p:spPr>
          <a:xfrm>
            <a:off x="381000" y="1009650"/>
            <a:ext cx="11430000" cy="438150"/>
          </a:xfrm>
          <a:prstGeom prst="roundRect">
            <a:avLst>
              <a:gd name="adj" fmla="val 21739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609600" y="1095375"/>
            <a:ext cx="109728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需求量大</a:t>
            </a:r>
            <a:r>
              <a:rPr lang="zh-CN" sz="17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altLang="en-US" sz="17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未来前景可观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54" name="圆角矩形 253"/>
          <p:cNvSpPr/>
          <p:nvPr/>
        </p:nvSpPr>
        <p:spPr>
          <a:xfrm>
            <a:off x="381000" y="1543050"/>
            <a:ext cx="5638800" cy="2095500"/>
          </a:xfrm>
          <a:prstGeom prst="roundRect">
            <a:avLst>
              <a:gd name="adj" fmla="val 5455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28650" y="1990725"/>
            <a:ext cx="5143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8576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万辆</a:t>
            </a:r>
            <a:endParaRPr lang="zh-CN" sz="22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628650" y="266700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全国摩托车保有量（辆，截至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2024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年底）</a:t>
            </a:r>
            <a:endParaRPr lang="zh-CN" sz="1650" b="1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628650" y="3000375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来源：交管部门统计（央视网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央广网报道，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6172200" y="1543050"/>
            <a:ext cx="5638800" cy="2095500"/>
          </a:xfrm>
          <a:prstGeom prst="roundRect">
            <a:avLst>
              <a:gd name="adj" fmla="val 5455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6419850" y="1990725"/>
            <a:ext cx="5143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438F"/>
                </a:solidFill>
                <a:latin typeface="Source Han Sans SC"/>
                <a:ea typeface="Source Han Sans SC"/>
              </a:rPr>
              <a:t>约</a:t>
            </a: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875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万辆</a:t>
            </a:r>
            <a:endParaRPr lang="zh-CN" sz="22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419850" y="266700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2024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年新注册登记摩托车</a:t>
            </a:r>
            <a:endParaRPr lang="zh-CN" sz="1650" b="1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419850" y="3000375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来源：中国摩托车商会（据公安部数据测算）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62" name="圆角矩形 261"/>
          <p:cNvSpPr/>
          <p:nvPr/>
        </p:nvSpPr>
        <p:spPr>
          <a:xfrm>
            <a:off x="381000" y="3733800"/>
            <a:ext cx="5638800" cy="1752600"/>
          </a:xfrm>
          <a:prstGeom prst="roundRect">
            <a:avLst>
              <a:gd name="adj" fmla="val 6522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628650" y="3886200"/>
            <a:ext cx="5143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534F"/>
                </a:solidFill>
                <a:latin typeface="Source Han Sans SC"/>
                <a:ea typeface="Source Han Sans SC"/>
              </a:rPr>
              <a:t>+42.97</a:t>
            </a:r>
            <a:r>
              <a:rPr lang="en-US" sz="2250" b="1">
                <a:solidFill>
                  <a:srgbClr val="D9534F"/>
                </a:solidFill>
                <a:latin typeface="Source Han Sans SC"/>
                <a:ea typeface="Source Han Sans SC"/>
              </a:rPr>
              <a:t>%</a:t>
            </a:r>
            <a:endParaRPr lang="en-US" sz="2250" b="1">
              <a:solidFill>
                <a:srgbClr val="D9534F"/>
              </a:solidFill>
              <a:latin typeface="Source Han Sans SC"/>
              <a:ea typeface="Source Han Sans SC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28650" y="4562475"/>
            <a:ext cx="51435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250cc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以上大排量休闲娱乐摩托车销量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75.66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万辆，同比增速</a:t>
            </a:r>
            <a:endParaRPr lang="zh-CN" sz="1650" b="1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628650" y="5143500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来源：中国摩托车商会（央广网报道，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）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66" name="圆角矩形 265"/>
          <p:cNvSpPr/>
          <p:nvPr/>
        </p:nvSpPr>
        <p:spPr>
          <a:xfrm>
            <a:off x="6172200" y="3733800"/>
            <a:ext cx="5638800" cy="1752600"/>
          </a:xfrm>
          <a:prstGeom prst="roundRect">
            <a:avLst>
              <a:gd name="adj" fmla="val 6522"/>
            </a:avLst>
          </a:prstGeom>
          <a:solidFill>
            <a:srgbClr val="F0F4F9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6419850" y="4010025"/>
            <a:ext cx="5143500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A438F"/>
                </a:solidFill>
                <a:latin typeface="Source Han Sans SC"/>
                <a:ea typeface="Source Han Sans SC"/>
              </a:rPr>
              <a:t>≥2000</a:t>
            </a:r>
            <a:r>
              <a:rPr lang="zh-CN" sz="2250" b="1">
                <a:solidFill>
                  <a:srgbClr val="1A438F"/>
                </a:solidFill>
                <a:latin typeface="Source Han Sans SC"/>
                <a:ea typeface="Source Han Sans SC"/>
              </a:rPr>
              <a:t>元</a:t>
            </a:r>
            <a:endParaRPr lang="zh-CN" sz="22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419850" y="4686300"/>
            <a:ext cx="5143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目标用户所持中高端全盔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拉力盔单价</a:t>
            </a:r>
            <a:endParaRPr lang="zh-CN" sz="1650" b="1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419850" y="5019675"/>
            <a:ext cx="5143500" cy="1905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设计</a:t>
            </a:r>
            <a:r>
              <a:rPr lang="zh-CN" altLang="en-US" sz="1200">
                <a:solidFill>
                  <a:srgbClr val="8B97A8"/>
                </a:solidFill>
                <a:latin typeface="Source Han Sans SC"/>
                <a:ea typeface="Source Han Sans SC"/>
                <a:cs typeface="Arial" panose="020B0604020202020204" pitchFamily="34" charset="0"/>
              </a:rPr>
              <a:t>需求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381000" y="5581650"/>
            <a:ext cx="11430000" cy="647700"/>
          </a:xfrm>
          <a:prstGeom prst="roundRect">
            <a:avLst>
              <a:gd name="adj" fmla="val 14706"/>
            </a:avLst>
          </a:prstGeom>
          <a:solidFill>
            <a:srgbClr val="0C3677"/>
          </a:solidFill>
        </p:spPr>
        <p:txBody>
          <a:bodyPr/>
          <a:p/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28650" y="5676900"/>
            <a:ext cx="109347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判断：摩托车消费正从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代步工具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转向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休闲社交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（央视网，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2025.05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），摩友为装备品质付费的意愿明确——中高端全盔单价高、贴身使用频次高，头盔养护是真实、可支付的需求。</a:t>
            </a:r>
            <a:endParaRPr lang="zh-CN" sz="1500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272" name="矩形 271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273" name="任意多边形 272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381000" y="6543675"/>
            <a:ext cx="403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来源：央视网、央广网（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2025.05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）、中国摩托车商会官网</a:t>
            </a:r>
            <a:endParaRPr lang="en-US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05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 descr="&lt;Slide style={{ width: 1280, height: 720, background: '#FFFFFF', fontFamily: &quot;'Source Han Sans SC','Noto Sans SC','Microsoft YaHei',sans-serif&quot; }}&gt;&#13;&#10;    &lt;Box style={{ height: 92, flexDirection: 'row', justifyContent: 'space-between', alignItems: 'center', padding: '0 40px', borderBottom: '2px solid #1E4FA8' }}&gt;&#13;&#10;        &lt;Box style={{ flexDirection: 'row', alignItems: 'center', gap: 14 }}&gt;&#13;&#10;            &lt;Box style={{ width: 8, height: 40, background: '#1E4FA8' }} /&gt;&#13;&#10;            &lt;Text style={{ fontSize: 30, fontWeight: 'bold', color: '#0E3F8C' }}&gt;目标用户画像：核心是&quot;为品质与仪式感付费&quot;的摩友群体&lt;/Text&gt;&#13;&#10;        &lt;/Box&gt;&#13;&#10;        &lt;Text style={{ fontSize: 15, color: '#8B97A8' }}&gt;01 调研背景与目标用户&lt;/Text&gt;&#13;&#10;    &lt;/Box&gt;&#13;&#10;    &lt;Box style={{ flex: 1, padding: '14px 40px', flexDirection: 'column', gap: 12 }}&gt;&#13;&#10;        &lt;Box style={{ flex: 1, flexDirection: 'row', gap: 18 }}&gt;&#13;&#10;            &lt;Box style={{ width: '60%', border: '1px solid #D6DCE5', borderRadius: 12, padding: '14px 26px', flexDirection: 'column', gap: 10 }}&gt;&#13;&#10;                &lt;Box style={{ flexDirection: 'row', alignItems: 'center', gap: 12 }}&gt;&#13;&#10;                    &lt;Box style={{ background: '#1E4FA8', borderRadius: 6, padding: '4px 14px' }}&gt;&lt;Text style={{ fontSize: 18, fontWeight: 'bold', color: '#FFFFFF' }}&gt;核心用户 · 摩友&lt;/Text&gt;&lt;/Box&gt;&#13;&#10;                    &lt;Text style={{ fontSize: 20, color: '#8B97A8' }}&gt;brief 明确给定的画像，非本报告推测&lt;/Text&gt;&#13;&#10;                &lt;/Box&gt;&#13;&#10;                &lt;Text style={{ fontSize: 19, color: '#1A2230', lineHeight: 1.5 }}&gt;&#13;&#10;                    &lt;span style={{ fontWeight: 'bold', color: '#0E3F8C' }}&gt;人群：&lt;/span&gt;25~45 岁男性为主，城市通勤 + 周末跑山的双重骑行场景。&#13;&#10;                    &lt;span style={{ color: '#0E3F8C', fontWeight: 'bold' }}&gt;→ 青壮年、学习能力强，&quot;一键启动&quot;式交互的教育成本最低。&lt;/span&gt;&#13;&#10;                &lt;/Text&gt;&#13;&#10;                &lt;Text style={{ fontSize: 19, color: '#1A2230', lineHeight: 1.5 }}&gt;&#13;&#10;                    &lt;span style={{ fontWeight: 'bold', color: '#0E3F8C' }}&gt;装备：&lt;/span&gt;拥有全盔 / 拉力盔等中高端头盔，单价 2000 元以上。&#13;&#10;                    &lt;span style={{ color: '#0E3F8C', fontWeight: 'bold' }}&gt;→ 头盔本身是高价值贴身装备，为养护付费在心理账户上成立。&lt;/span&gt;&#13;&#10;                &lt;/Text&gt;&#13;&#10;                &lt;Text style={{ fontSize: 19, color: '#1A2230', lineHeight: 1.5 }}&gt;&#13;&#10;                    &lt;span style={{ fontWeight: 'bold', color: '#0E3F8C' }}&gt;场所与心理：&lt;/span&gt;家中有固定停车位或独立车库；在意装备品质与生活仪式感，对异味、卫生有明确要求，愿为&quot;好看 + 好用&quot;的周边付费。&#13;&#10;                    &lt;span style={{ color: '#0E3F8C', fontWeight: 'bold' }}&gt;→ 产品定位是&quot;生活方式摆件&quot;，不是医疗级消毒设备。&lt;/span&gt;&#13;&#10;                &lt;/Text&gt;&#13;&#10;                &lt;Box style={{ marginTop: 'auto', background: '#F0F5FC', borderRadius: 8, padding: '8px 16px' }}&gt;&#13;&#10;                    &lt;Text style={{ fontSize: 17, color: '#0E3F8C' }}&gt;次级用户：日常通勤代步的普通摩托车用户，需求频次与付费意愿低于核心画像（按 brief 人群定位推导）。&lt;/Text&gt;&#13;&#10;                &lt;/Box&gt;&#13;&#10;            &lt;/Box&gt;&#13;&#10;            &lt;Box style={{ flex: 1, background: '#F0F5FC', borderRadius: 12, padding: '14px 22px', flexDirection: 'column', gap: 10 }}&gt;&#13;&#10;                &lt;Text style={{ fontSize: 22, fontWeight: 'bold', color: '#0E3F8C' }}&gt;用户特征 → 设计含义&lt;/Text&gt;&#13;&#10;                &lt;Box style={{ background: '#FFFFFF', borderRadius: 8, padding: '9px 16px' }}&gt;&#13;&#10;                    &lt;Text style={{ fontSize: 18, color: '#1A2230', lineHeight: 1.45 }}&gt;&lt;span style={{ fontWeight: 'bold' }}&gt;到家即用：&lt;/span&gt;傍晚骑行归来，摘盔、放入、启动应一气呵成——取放路径要短，须支持戴骑行手套的单手托放。&lt;/Text&gt;&#13;&#10;                &lt;/Box&gt;&#13;&#10;                &lt;Box style={{ background: '#FFFFFF', borderRadius: 8, padding: '9px 16px' }}&gt;&#13;&#10;                    &lt;Text style={{ fontSize: 18, color: '#1A2230', lineHeight: 1.45 }}&gt;&lt;span style={{ fontWeight: 'bold' }}&gt;无人值守：&lt;/span&gt;通风 + UV 30 分钟自动循环，期间人不在旁——安全联锁（开盖断电）必须机械可靠，不依赖用户记忆。&lt;/Text&gt;&#13;&#10;                &lt;/Box&gt;&#13;&#10;                &lt;Box style={{ background: '#FFFFFF', borderRadius: 8, padding: '9px 16px' }}&gt;&#13;&#10;                    &lt;Text style={{ fontSize: 18, color: '#1A2230', lineHeight: 1.45 }}&gt;&lt;span style={{ fontWeight: 'bold' }}&gt;居住空间：&lt;/span&gt;设备长期摆在玄关 / 车库——形态与配色须融入家居（黑 / 灰 / 哑光，brief），不能是医疗柜。&lt;/Text&gt;&#13;&#10;                &lt;/Box&gt;&#13;&#10;            &lt;/Box&gt;&#13;&#10;        &lt;/Box&gt;&#13;&#10;        &lt;Box style={{ background: '#0E3F8C', borderRadius: 10, padding: '10px 26px' }}&gt;&#13;&#10;            &lt;Text style={{ fontSize: 20, fontWeight: 'bold', color: '#FFFFFF' }}&gt;小结：目标用户的第一约束是&quot;玄关 / 车库的居住尺度与审美&quot;，第二约束是&quot;傍晚到家、戴手套的单手取放&quot;。&lt;/Text&gt;&#13;&#10;        &lt;/Box&gt;&#13;&#10;    &lt;/Box&gt;&#13;&#10;    &lt;Box style={{ height: 52, background: '#F7F9FC', borderTop: '1px solid #D6DCE5', flexDirection: 'row', justifyContent: 'space-between', alignItems: 'center', padding: '0 40px' }}&gt;&#13;&#10;        &lt;Text style={{ fontSize: 13, color: '#8B97A8' }}&gt;来源：项目需求 brief《摩托车头盔通风消毒装置》&quot;人群定位&quot;章节&lt;/Text&gt;&#13;&#10;        &lt;Text style={{ fontSize: 14, fontWeight: 'bold', color: '#1E4FA8' }}&gt;0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目标用户画像：核心是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为品质与仪式感付费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的摩友群体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381000" y="1009650"/>
            <a:ext cx="6858000" cy="468630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3" name="圆角矩形 282"/>
          <p:cNvSpPr/>
          <p:nvPr/>
        </p:nvSpPr>
        <p:spPr>
          <a:xfrm>
            <a:off x="628650" y="1143000"/>
            <a:ext cx="1543050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62000" y="1181100"/>
            <a:ext cx="127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核心用户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摩友</a:t>
            </a:r>
            <a:endParaRPr lang="zh-CN" sz="1350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628650" y="1524000"/>
            <a:ext cx="63627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人群：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25~45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岁男性为主，城市通勤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4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周末跑山的双重骑行场景。</a:t>
            </a:r>
            <a:endParaRPr lang="zh-CN" sz="142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青壮年</a:t>
            </a:r>
            <a:r>
              <a:rPr lang="zh-CN" sz="1425" b="1">
                <a:solidFill>
                  <a:srgbClr val="0C3677"/>
                </a:solidFill>
                <a:latin typeface="Source Han Sans SC" charset="0"/>
                <a:ea typeface="Source Han Sans SC" charset="0"/>
              </a:rPr>
              <a:t>为主，兴趣强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628670" y="2476518"/>
            <a:ext cx="63627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装备：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拥有全盔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拉力盔等中高端头盔，单价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2000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元以上。</a:t>
            </a:r>
            <a:endParaRPr lang="zh-CN" sz="142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头盔本身是高价值贴身装备，为养护付费在心理账户上成立。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628670" y="3434544"/>
            <a:ext cx="6362700" cy="981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场所与心理：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家中有固定停车位或独立车库；在意装备品质与生活仪式感</a:t>
            </a:r>
            <a:endParaRPr lang="zh-CN" sz="142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→ 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产品定位是</a:t>
            </a: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生活方式摆件</a:t>
            </a:r>
            <a:r>
              <a:rPr lang="en-US" sz="14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，不是医疗级消毒设备。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628650" y="5019675"/>
            <a:ext cx="6362700" cy="542925"/>
          </a:xfrm>
          <a:prstGeom prst="roundRect">
            <a:avLst>
              <a:gd name="adj" fmla="val 14035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781050" y="5095875"/>
            <a:ext cx="60579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0C3677"/>
                </a:solidFill>
                <a:latin typeface="Source Han Sans SC"/>
                <a:ea typeface="Source Han Sans SC"/>
              </a:rPr>
              <a:t>次级用户：日常通勤代步的普通摩托车用户，需求频次与付费意愿低于核心画像（按</a:t>
            </a:r>
            <a:r>
              <a:rPr lang="en-US" sz="1275">
                <a:solidFill>
                  <a:srgbClr val="0C3677"/>
                </a:solidFill>
                <a:latin typeface="Source Han Sans SC"/>
                <a:ea typeface="Source Han Sans SC"/>
              </a:rPr>
              <a:t> brief </a:t>
            </a:r>
            <a:r>
              <a:rPr lang="zh-CN" sz="1275">
                <a:solidFill>
                  <a:srgbClr val="0C3677"/>
                </a:solidFill>
                <a:latin typeface="Source Han Sans SC"/>
                <a:ea typeface="Source Han Sans SC"/>
              </a:rPr>
              <a:t>人群定位推导）。</a:t>
            </a:r>
            <a:endParaRPr lang="zh-CN" sz="1275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7410450" y="1009650"/>
            <a:ext cx="4400550" cy="4686300"/>
          </a:xfrm>
          <a:prstGeom prst="roundRect">
            <a:avLst>
              <a:gd name="adj" fmla="val 2597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7620000" y="1143000"/>
            <a:ext cx="39814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用户特征</a:t>
            </a:r>
            <a:r>
              <a:rPr 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设计含义</a:t>
            </a:r>
            <a:endParaRPr lang="zh-CN" sz="16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93" name="圆角矩形 292"/>
          <p:cNvSpPr/>
          <p:nvPr/>
        </p:nvSpPr>
        <p:spPr>
          <a:xfrm>
            <a:off x="7620000" y="149542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7772400" y="158115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到家即用：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傍晚骑行归来，摘盔、放入、启动应一气呵成——取放路径要短，须支持戴骑行手套的单手托放。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95" name="圆角矩形 294"/>
          <p:cNvSpPr/>
          <p:nvPr/>
        </p:nvSpPr>
        <p:spPr>
          <a:xfrm>
            <a:off x="7620000" y="265747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7772400" y="274320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无人值守：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通风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UV 30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分钟自动循环，期间人不在旁——安全联锁（开盖断电）必须机械可靠，不依赖用户记忆。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97" name="圆角矩形 296"/>
          <p:cNvSpPr/>
          <p:nvPr/>
        </p:nvSpPr>
        <p:spPr>
          <a:xfrm>
            <a:off x="7620000" y="3819525"/>
            <a:ext cx="3981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7772400" y="3905250"/>
            <a:ext cx="367665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居住空间：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设备长期摆在玄关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车库——形态与配色须融入家居（黑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灰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哑光，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），不能是医疗柜。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299" name="圆角矩形 298"/>
          <p:cNvSpPr/>
          <p:nvPr/>
        </p:nvSpPr>
        <p:spPr>
          <a:xfrm>
            <a:off x="381000" y="581025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0C3677"/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28650" y="5905500"/>
            <a:ext cx="10934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小结：目标用户的第一约束是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玄关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车库的居住尺度与审美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，第二约束是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傍晚到家、戴手套的单手取放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。</a:t>
            </a:r>
            <a:endParaRPr lang="zh-CN" sz="1500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381000" y="6543675"/>
            <a:ext cx="3590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《摩托车头盔通风消毒装置》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人群定位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章节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06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 descr="&lt;Slide style={{ width: 1280, height: 720, background: '#FFFFFF', fontFamily: &quot;'Source Han Sans SC','Noto Sans SC','Microsoft YaHei',sans-serif&quot; }}&gt;&#13;&#10;    &lt;Box style={{ height: 92, flexDirection: 'row', justifyContent: 'space-between', alignItems: 'center', padding: '0 40px', borderBottom: '2px solid #1E4FA8' }}&gt;&#13;&#10;        &lt;Box style={{ flexDirection: 'row', alignItems: 'center', gap: 14 }}&gt;&#13;&#10;            &lt;Box style={{ width: 8, height: 40, background: '#1E4FA8' }} /&gt;&#13;&#10;            &lt;Text style={{ fontSize: 30, fontWeight: 'bold', color: '#0E3F8C' }}&gt;目标用户画像：核心是&quot;为品质与仪式感付费&quot;的摩友群体&lt;/Text&gt;&#13;&#10;        &lt;/Box&gt;&#13;&#10;        &lt;Text style={{ fontSize: 15, color: '#8B97A8' }}&gt;01 调研背景与目标用户&lt;/Text&gt;&#13;&#10;    &lt;/Box&gt;&#13;&#10;    &lt;Box style={{ flex: 1, padding: '14px 40px', flexDirection: 'column', gap: 12 }}&gt;&#13;&#10;        &lt;Box style={{ flex: 1, flexDirection: 'row', gap: 18 }}&gt;&#13;&#10;            &lt;Box style={{ width: '60%', border: '1px solid #D6DCE5', borderRadius: 12, padding: '14px 26px', flexDirection: 'column', gap: 10 }}&gt;&#13;&#10;                &lt;Box style={{ flexDirection: 'row', alignItems: 'center', gap: 12 }}&gt;&#13;&#10;                    &lt;Box style={{ background: '#1E4FA8', borderRadius: 6, padding: '4px 14px' }}&gt;&lt;Text style={{ fontSize: 18, fontWeight: 'bold', color: '#FFFFFF' }}&gt;核心用户 · 摩友&lt;/Text&gt;&lt;/Box&gt;&#13;&#10;                    &lt;Text style={{ fontSize: 20, color: '#8B97A8' }}&gt;brief 明确给定的画像，非本报告推测&lt;/Text&gt;&#13;&#10;                &lt;/Box&gt;&#13;&#10;                &lt;Text style={{ fontSize: 19, color: '#1A2230', lineHeight: 1.5 }}&gt;&#13;&#10;                    &lt;span style={{ fontWeight: 'bold', color: '#0E3F8C' }}&gt;人群：&lt;/span&gt;25~45 岁男性为主，城市通勤 + 周末跑山的双重骑行场景。&#13;&#10;                    &lt;span style={{ color: '#0E3F8C', fontWeight: 'bold' }}&gt;→ 青壮年、学习能力强，&quot;一键启动&quot;式交互的教育成本最低。&lt;/span&gt;&#13;&#10;                &lt;/Text&gt;&#13;&#10;                &lt;Text style={{ fontSize: 19, color: '#1A2230', lineHeight: 1.5 }}&gt;&#13;&#10;                    &lt;span style={{ fontWeight: 'bold', color: '#0E3F8C' }}&gt;装备：&lt;/span&gt;拥有全盔 / 拉力盔等中高端头盔，单价 2000 元以上。&#13;&#10;                    &lt;span style={{ color: '#0E3F8C', fontWeight: 'bold' }}&gt;→ 头盔本身是高价值贴身装备，为养护付费在心理账户上成立。&lt;/span&gt;&#13;&#10;                &lt;/Text&gt;&#13;&#10;                &lt;Text style={{ fontSize: 19, color: '#1A2230', lineHeight: 1.5 }}&gt;&#13;&#10;                    &lt;span style={{ fontWeight: 'bold', color: '#0E3F8C' }}&gt;场所与心理：&lt;/span&gt;家中有固定停车位或独立车库；在意装备品质与生活仪式感，对异味、卫生有明确要求，愿为&quot;好看 + 好用&quot;的周边付费。&#13;&#10;                    &lt;span style={{ color: '#0E3F8C', fontWeight: 'bold' }}&gt;→ 产品定位是&quot;生活方式摆件&quot;，不是医疗级消毒设备。&lt;/span&gt;&#13;&#10;                &lt;/Text&gt;&#13;&#10;                &lt;Box style={{ marginTop: 'auto', background: '#F0F5FC', borderRadius: 8, padding: '8px 16px' }}&gt;&#13;&#10;                    &lt;Text style={{ fontSize: 17, color: '#0E3F8C' }}&gt;次级用户：日常通勤代步的普通摩托车用户，需求频次与付费意愿低于核心画像（按 brief 人群定位推导）。&lt;/Text&gt;&#13;&#10;                &lt;/Box&gt;&#13;&#10;            &lt;/Box&gt;&#13;&#10;            &lt;Box style={{ flex: 1, background: '#F0F5FC', borderRadius: 12, padding: '14px 22px', flexDirection: 'column', gap: 10 }}&gt;&#13;&#10;                &lt;Text style={{ fontSize: 22, fontWeight: 'bold', color: '#0E3F8C' }}&gt;用户特征 → 设计含义&lt;/Text&gt;&#13;&#10;                &lt;Box style={{ background: '#FFFFFF', borderRadius: 8, padding: '9px 16px' }}&gt;&#13;&#10;                    &lt;Text style={{ fontSize: 18, color: '#1A2230', lineHeight: 1.45 }}&gt;&lt;span style={{ fontWeight: 'bold' }}&gt;到家即用：&lt;/span&gt;傍晚骑行归来，摘盔、放入、启动应一气呵成——取放路径要短，须支持戴骑行手套的单手托放。&lt;/Text&gt;&#13;&#10;                &lt;/Box&gt;&#13;&#10;                &lt;Box style={{ background: '#FFFFFF', borderRadius: 8, padding: '9px 16px' }}&gt;&#13;&#10;                    &lt;Text style={{ fontSize: 18, color: '#1A2230', lineHeight: 1.45 }}&gt;&lt;span style={{ fontWeight: 'bold' }}&gt;无人值守：&lt;/span&gt;通风 + UV 30 分钟自动循环，期间人不在旁——安全联锁（开盖断电）必须机械可靠，不依赖用户记忆。&lt;/Text&gt;&#13;&#10;                &lt;/Box&gt;&#13;&#10;                &lt;Box style={{ background: '#FFFFFF', borderRadius: 8, padding: '9px 16px' }}&gt;&#13;&#10;                    &lt;Text style={{ fontSize: 18, color: '#1A2230', lineHeight: 1.45 }}&gt;&lt;span style={{ fontWeight: 'bold' }}&gt;居住空间：&lt;/span&gt;设备长期摆在玄关 / 车库——形态与配色须融入家居（黑 / 灰 / 哑光，brief），不能是医疗柜。&lt;/Text&gt;&#13;&#10;                &lt;/Box&gt;&#13;&#10;            &lt;/Box&gt;&#13;&#10;        &lt;/Box&gt;&#13;&#10;        &lt;Box style={{ background: '#0E3F8C', borderRadius: 10, padding: '10px 26px' }}&gt;&#13;&#10;            &lt;Text style={{ fontSize: 20, fontWeight: 'bold', color: '#FFFFFF' }}&gt;小结：目标用户的第一约束是&quot;玄关 / 车库的居住尺度与审美&quot;，第二约束是&quot;傍晚到家、戴手套的单手取放&quot;。&lt;/Text&gt;&#13;&#10;        &lt;/Box&gt;&#13;&#10;    &lt;/Box&gt;&#13;&#10;    &lt;Box style={{ height: 52, background: '#F7F9FC', borderTop: '1px solid #D6DCE5', flexDirection: 'row', justifyContent: 'space-between', alignItems: 'center', padding: '0 40px' }}&gt;&#13;&#10;        &lt;Text style={{ fontSize: 13, color: '#8B97A8' }}&gt;来源：项目需求 brief《摩托车头盔通风消毒装置》&quot;人群定位&quot;章节&lt;/Text&gt;&#13;&#10;        &lt;Text style={{ fontSize: 14, fontWeight: 'bold', color: '#1E4FA8' }}&gt;06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8" name="任意多边形 27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279" name="矩形 27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590550" y="257175"/>
            <a:ext cx="70770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问卷调查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01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调研背景与目标用户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282" name="圆角矩形 281"/>
          <p:cNvSpPr/>
          <p:nvPr/>
        </p:nvSpPr>
        <p:spPr>
          <a:xfrm>
            <a:off x="381000" y="1009650"/>
            <a:ext cx="6858000" cy="468630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3" name="圆角矩形 282"/>
          <p:cNvSpPr/>
          <p:nvPr/>
        </p:nvSpPr>
        <p:spPr>
          <a:xfrm>
            <a:off x="628650" y="1143000"/>
            <a:ext cx="934659" cy="285750"/>
          </a:xfrm>
          <a:prstGeom prst="roundRect">
            <a:avLst>
              <a:gd name="adj" fmla="val 20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62000" y="1181100"/>
            <a:ext cx="1276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核心</a:t>
            </a:r>
            <a:r>
              <a:rPr lang="zh-CN" sz="1350" b="1">
                <a:solidFill>
                  <a:srgbClr val="FFFFFF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结论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289" name="圆角矩形 288"/>
          <p:cNvSpPr/>
          <p:nvPr/>
        </p:nvSpPr>
        <p:spPr>
          <a:xfrm>
            <a:off x="628650" y="5019675"/>
            <a:ext cx="6362700" cy="542925"/>
          </a:xfrm>
          <a:prstGeom prst="roundRect">
            <a:avLst>
              <a:gd name="adj" fmla="val 14035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91" name="圆角矩形 290"/>
          <p:cNvSpPr/>
          <p:nvPr/>
        </p:nvSpPr>
        <p:spPr>
          <a:xfrm>
            <a:off x="7410450" y="1009650"/>
            <a:ext cx="4400550" cy="4686300"/>
          </a:xfrm>
          <a:prstGeom prst="roundRect">
            <a:avLst>
              <a:gd name="adj" fmla="val 2597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99" name="圆角矩形 298"/>
          <p:cNvSpPr/>
          <p:nvPr/>
        </p:nvSpPr>
        <p:spPr>
          <a:xfrm>
            <a:off x="381000" y="5810250"/>
            <a:ext cx="11430000" cy="419100"/>
          </a:xfrm>
          <a:prstGeom prst="roundRect">
            <a:avLst>
              <a:gd name="adj" fmla="val 22727"/>
            </a:avLst>
          </a:prstGeom>
          <a:solidFill>
            <a:srgbClr val="0C3677"/>
          </a:solidFill>
        </p:spPr>
        <p:txBody>
          <a:bodyPr/>
          <a:p/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628650" y="5905500"/>
            <a:ext cx="10934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小结：</a:t>
            </a:r>
            <a:endParaRPr lang="zh-CN" sz="1500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302" name="任意多边形 301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381000" y="6543675"/>
            <a:ext cx="3590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《摩托车头盔通风消毒装置》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人群定位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章节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</a:t>
            </a:r>
            <a:r>
              <a:rPr lang="en-US" sz="1050" b="1">
                <a:solidFill>
                  <a:srgbClr val="1A438F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7</a:t>
            </a: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5" name="" descr="&lt;Slide style={{ width: 1280, height: 720, background: '#FFFFFF', fontFamily: &quot;'Source Han Sans SC','Noto Sans SC','Microsoft YaHei',sans-serif&quot;, position: 'relative' }}&gt;&#10;    &lt;Box style={{ position: 'absolute', bottom: -80, lef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2&lt;/Text&gt;&#10;        &lt;/Box&gt;&#10;        &lt;Box style={{ flex: 1, paddingLeft: 40, flexDirection: 'column', gap: 28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2&lt;/Text&gt;&#10;                &lt;Box style={{ background: '#1E4FA8', borderRadius: 10, padding: '3px 14px' }}&gt;&lt;Text style={{ fontSize: 17, fontWeight: 'bold', color: '#FFFFFF' }}&gt;报告重点&lt;/Text&gt;&lt;/Box&gt;&#10;            &lt;/Box&gt;&#10;            &lt;Text style={{ fontSize: 46, fontWeight: 'bold', color: '#0E3F8C', letterSpacing: 2 }}&gt;人体工学专项分析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部尺寸与舱体内腔：以 GB/T 10000-1988 头面部数据为约束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头盔质量与取放负荷：以 GB 811-2010 质量限值为依据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立姿取放高度推导：结合 brief 尺寸红线的放置方式与高度区间建议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操作动作分解：流程、身体部位与人机要点逐项对照&lt;/Text&gt;&#10;                &lt;/Box&gt;&#10;            &lt;/Box&gt;&#10;            &lt;Box style={{ background: '#F0F5FC', borderRadius: 10, padding: '14px 22px', marginTop: 4 }}&gt;&#10;                &lt;Text style={{ fontSize: 19, color: '#0E3F8C', lineHeight: 1.6 }}&gt;本章方法：不凭经验给结论，每一项设计约束均由国标百分位数据与 brief 尺寸红线推导，并给出推导路径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7" name="圆角矩形 336"/>
          <p:cNvSpPr/>
          <p:nvPr/>
        </p:nvSpPr>
        <p:spPr>
          <a:xfrm>
            <a:off x="-571500" y="40005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02</a:t>
            </a:r>
            <a:endParaRPr lang="en-US" sz="2250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339" name="矩形 338"/>
          <p:cNvSpPr/>
          <p:nvPr/>
        </p:nvSpPr>
        <p:spPr>
          <a:xfrm>
            <a:off x="4572000" y="1476375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5200650" y="1390650"/>
            <a:ext cx="1390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02</a:t>
            </a:r>
            <a:endParaRPr lang="en-US" sz="1500" spc="3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341" name="圆角矩形 340"/>
          <p:cNvSpPr/>
          <p:nvPr/>
        </p:nvSpPr>
        <p:spPr>
          <a:xfrm>
            <a:off x="6724650" y="1371600"/>
            <a:ext cx="914400" cy="257175"/>
          </a:xfrm>
          <a:prstGeom prst="roundRect">
            <a:avLst>
              <a:gd name="adj" fmla="val 37037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858000" y="14001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Source Han Sans SC"/>
                <a:ea typeface="Source Han Sans SC"/>
              </a:rPr>
              <a:t>报告重点</a:t>
            </a:r>
            <a:endParaRPr lang="zh-CN" sz="1275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4572000" y="1895475"/>
            <a:ext cx="72390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人体工学专项分析</a:t>
            </a:r>
            <a:endParaRPr lang="zh-CN" sz="3450" b="1" spc="150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4572000" y="27717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4819650" y="2695575"/>
            <a:ext cx="5905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头部尺寸与舱体内腔：以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GB/T 10000-</a:t>
            </a:r>
            <a:r>
              <a:rPr lang="en-US" sz="17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2</a:t>
            </a:r>
            <a:r>
              <a:rPr lang="en-US" altLang="zh-CN" sz="172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023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头面部数据为约束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346" name="圆角矩形 345"/>
          <p:cNvSpPr/>
          <p:nvPr/>
        </p:nvSpPr>
        <p:spPr>
          <a:xfrm>
            <a:off x="4572000" y="319087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819650" y="3114675"/>
            <a:ext cx="5248275" cy="2667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头盔质量与取放负荷：以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alt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GB 811-2022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质量限值为依据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350" name="圆角矩形 349"/>
          <p:cNvSpPr/>
          <p:nvPr/>
        </p:nvSpPr>
        <p:spPr>
          <a:xfrm>
            <a:off x="4571963" y="3641954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4819652" y="3565757"/>
            <a:ext cx="5038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操作动作分解：流程、身体部位与人机要点逐项对照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4572000" y="4524375"/>
            <a:ext cx="7239000" cy="630176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4781550" y="4657725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每一项设计约束均由国标百分位数据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尺寸红线推导，并给出推导路径。</a:t>
            </a:r>
            <a:endParaRPr lang="zh-CN" sz="1425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4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①：头部尺寸与舱体内腔约束&lt;/Text&gt;&#10;        &lt;/Box&gt;&#10;        &lt;Text style={{ fontSize: 15, color: '#8B97A8' }}&gt;02 人体工学专项分析&lt;/Text&gt;&#10;    &lt;/Box&gt;&#10;    &lt;Box style={{ flex: 1, padding: '22px 40px', flexDirection: 'column', gap: 16 }}&gt;&#10;        &lt;Table&#10;            style={{ width: '100%', height: 316 }}&#10;            defaultTextStyle={{ fontSize: 20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指标', textStyle: { bold: true, color: '#FFFFFF' }, cellStyle: { background: { color: '#1E4FA8' } } },&#10;                    { text: '数据', textStyle: { bold: true, color: '#FFFFFF' }, cellStyle: { background: { color: '#1E4FA8' } } },&#10;                    { text: '对消毒机设计的含义', textStyle: { bold: true, color: '#FFFFFF' }, cellStyle: { background: { color: '#1E4FA8' } } },&#10;                ],&#10;                ['成年男性头围', '54~58 cm（均值约 57 cm）', '舱内托盘 / 夹持件按头围上限的整盔外廓预留'],&#10;                ['成年女性头围', '53~56 cm（均值约 55 cm）', '半盔较小，托放面须防倾倒、防晃动'],&#10;                ['头最大长（男）', '185~205 mm', '舱深须容纳全盔前后轮廓（含下巴包裹）'],&#10;                ['头最大宽（男 P95）', '164 mm', '内腔有效宽度须数倍于头宽（含壳体与缓冲层）'],&#10;                [&#10;                    { text: '头盔规格（GB 811-2010）', cellStyle: { background: { color: '#F0F5FC' } } },&#10;                    { text: '按头围分小（540~560）/ 中（560~580）/ 大（580~600mm）三档', cellStyle: { background: { color: '#F0F5FC' } } },&#10;                    { text: '内腔按&quot;最大规格全盔可放入&quot;为下限约束', textStyle: { bold: true }, cellStyle: { background: { color: '#F0F5FC' } } },&#10;                ],&#10;            ]}&#10;        /&gt;&#10;        &lt;Box style={{ flex: 1, border: '1px solid #D6DCE5', borderLeft: '6px solid #1E4FA8', borderRadius: 10, background: '#F7F9FC', padding: '18px 26px', flexDirection: 'column', gap: 10, justifyContent: 'center' }}&gt;&#10;            &lt;Text style={{ fontSize: 23, fontWeight: 'bold', color: '#0E3F8C' }}&gt;洞察：消毒舱要容纳的是&quot;头盔外廓&quot;，不是头部&lt;/Text&gt;&#10;            &lt;Text style={{ fontSize: 21, color: '#1A2230', lineHeight: 1.6 }}&gt;头围 53~58 cm 只是头部软尺寸；装入消毒舱的是带壳体、缓冲层与下巴包裹的全盔，外廓远大于头部。项目 brief 给出主流全盔外廓约 30×25×35cm，与&quot;最大规格头盔可放入&quot;的推导一致，可直接作为内腔设计的输入；上限约束则是较小头盔放入后不倾倒、不晃动——两者共同决定托盘直径与舱门开口。&lt;/Text&gt;&#10;        &lt;/Box&gt;&#10;        &lt;Box style={{ flexDirection: 'row', justifyContent: 'space-between', alignItems: 'center' }}&gt;&#10;            &lt;Text style={{ fontSize: 15, color: '#8B97A8' }}&gt;数据来源：GB/T 10000-1988《中国成年人人体尺寸》头面部数据；GB 811-2010 规格划分（检测机构公开条款资料）；全盔外廓尺寸见项目需求 brief&lt;/Text&gt;&#10;            &lt;Text style={{ fontSize: 14, fontWeight: 'bold', color: '#1E4FA8' }}&gt;09 / 16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矩形 3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6" name="任意多边形 355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357" name="矩形 356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590550" y="257175"/>
            <a:ext cx="54959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①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：头部尺寸与舱体内腔约束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graphicFrame>
        <p:nvGraphicFramePr>
          <p:cNvPr id="360" name="表格 359"/>
          <p:cNvGraphicFramePr/>
          <p:nvPr/>
        </p:nvGraphicFramePr>
        <p:xfrm>
          <a:off x="381000" y="1085850"/>
          <a:ext cx="11430000" cy="3009900"/>
        </p:xfrm>
        <a:graphic>
          <a:graphicData uri="http://schemas.openxmlformats.org/drawingml/2006/table">
            <a:tbl>
              <a:tblPr/>
              <a:tblGrid>
                <a:gridCol w="2209962"/>
                <a:gridCol w="5491053"/>
                <a:gridCol w="3728985"/>
              </a:tblGrid>
              <a:tr h="3646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对消毒机设计的含义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</a:tr>
              <a:tr h="6386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成年男性头围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617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舱内托盘 / 夹持件按头围上限的整盔外廓预留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46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成年女性头围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m（P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50为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半盔较小，托放面须防倾倒、防晃动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46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头最大长（男）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~205 mm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P50~P99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舱深须容纳全盔前后轮廓（含下巴包裹）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86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头最大宽（男）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mm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P95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内腔有效宽度须数倍于头宽（含壳体与缓冲层）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86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头盔规格（GB 811-20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分为特小（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50~&lt;540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小（540~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570</a:t>
                      </a: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中（5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70~&lt;60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0）/ 大（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60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0~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&lt;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0mm）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特大（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620~&lt;660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）五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档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内腔按"最大规格全盔可放入"为下限约束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</a:tbl>
          </a:graphicData>
        </a:graphic>
      </p:graphicFrame>
      <p:sp>
        <p:nvSpPr>
          <p:cNvPr id="361" name="圆角矩形 360"/>
          <p:cNvSpPr/>
          <p:nvPr/>
        </p:nvSpPr>
        <p:spPr>
          <a:xfrm>
            <a:off x="438150" y="4248150"/>
            <a:ext cx="11430000" cy="2076450"/>
          </a:xfrm>
          <a:prstGeom prst="roundRect">
            <a:avLst>
              <a:gd name="adj" fmla="val 4587"/>
            </a:avLst>
          </a:prstGeom>
          <a:solidFill>
            <a:srgbClr val="F0F4F9"/>
          </a:solidFill>
        </p:spPr>
        <p:txBody>
          <a:bodyPr/>
          <a:p/>
        </p:txBody>
      </p:sp>
      <p:sp>
        <p:nvSpPr>
          <p:cNvPr id="362" name="任意多边形 361"/>
          <p:cNvSpPr/>
          <p:nvPr/>
        </p:nvSpPr>
        <p:spPr>
          <a:xfrm>
            <a:off x="438150" y="4248150"/>
            <a:ext cx="11430000" cy="2076450"/>
          </a:xfrm>
          <a:custGeom>
            <a:avLst/>
            <a:gdLst/>
            <a:ahLst/>
            <a:cxnLst/>
            <a:pathLst>
              <a:path w="1200" h="218">
                <a:moveTo>
                  <a:pt x="10" y="0"/>
                </a:moveTo>
                <a:cubicBezTo>
                  <a:pt x="8" y="0"/>
                  <a:pt x="6" y="2"/>
                  <a:pt x="6" y="4"/>
                </a:cubicBezTo>
                <a:lnTo>
                  <a:pt x="6" y="214"/>
                </a:lnTo>
                <a:cubicBezTo>
                  <a:pt x="6" y="216"/>
                  <a:pt x="8" y="218"/>
                  <a:pt x="10" y="218"/>
                </a:cubicBezTo>
                <a:cubicBezTo>
                  <a:pt x="4" y="218"/>
                  <a:pt x="0" y="213"/>
                  <a:pt x="0" y="20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685800" y="4533900"/>
            <a:ext cx="108775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洞察：消毒舱要容纳的是</a:t>
            </a:r>
            <a:r>
              <a:rPr lang="en-US" sz="17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头盔外廓</a:t>
            </a:r>
            <a:r>
              <a:rPr lang="en-US" sz="1725" b="1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725" b="1">
                <a:solidFill>
                  <a:srgbClr val="0C3677"/>
                </a:solidFill>
                <a:latin typeface="Source Han Sans SC"/>
                <a:ea typeface="Source Han Sans SC"/>
              </a:rPr>
              <a:t>，不是头部</a:t>
            </a:r>
            <a:endParaRPr lang="zh-CN" sz="17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685800" y="4895850"/>
            <a:ext cx="10877550" cy="1152525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头围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53~58 cm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只是头部软尺寸；装入消毒舱的全盔，外廓远大于头部</a:t>
            </a:r>
            <a:r>
              <a:rPr lang="zh-CN" alt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endParaRPr lang="zh-CN" sz="157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项目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brief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给出主流全盔外廓约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30×25×35cm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，与最大规格头盔可放入</a:t>
            </a:r>
            <a:r>
              <a:rPr lang="zh-CN" sz="1575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的尺寸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，作为内腔设计的输入；</a:t>
            </a:r>
            <a:endParaRPr lang="zh-CN" sz="1575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上限约束则是较小头盔放入后不倾倒、不晃动——两者共同决定托盘直径与舱门开口。</a:t>
            </a:r>
            <a:endParaRPr lang="zh-CN" sz="157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381000" y="6477000"/>
            <a:ext cx="9353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数据来源：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GB/T 10000-1988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《中国成年人人体尺寸》头面部数据；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 811-2010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规格划分（检测机构公开条款资料）；全盔外廓尺寸见项目需求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endParaRPr lang="en-US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11420475" y="6486525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09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②：头盔质量与取放负荷&lt;/Text&gt;&#10;        &lt;/Box&gt;&#10;        &lt;Text style={{ fontSize: 15, color: '#8B97A8' }}&gt;02 人体工学专项分析&lt;/Text&gt;&#10;    &lt;/Box&gt;&#10;    &lt;Box style={{ flex: 1, padding: '22px 40px', flexDirection: 'column', gap: 18 }}&gt;&#10;        &lt;Box style={{ flex: 1, flexDirection: 'row', gap: 20 }}&gt;&#10;            &lt;Box style={{ width: '44%', flexDirection: 'column', gap: 14 }}&gt;&#10;                &lt;Table&#10;                    style={{ width: '100%', height: 300 }}&#10;                    defaultTextStyle={{ fontSize: 20, textAlign: 'center', color: '#1A2230' }}&#10;                    defaultCellStyle={{&#10;                        border: { left: { width: 1, color: '#D6DCE5' }, right: { width: 1, color: '#D6DCE5' }, top: { width: 1, color: '#D6DCE5' }, bottom: { width: 1, color: '#D6DCE5' } },&#10;                    }}&#10;                    cells={[&#10;                        [&#10;                            { text: '头盔类别（GB 811-2010）', textStyle: { bold: true, color: '#FFFFFF' }, cellStyle: { background: { color: '#1E4FA8' } } },&#10;                            { text: '质量限值', textStyle: { bold: true, color: '#FFFFFF' }, cellStyle: { background: { color: '#1E4FA8' } } },&#10;                        ],&#10;                        [&#10;                            { text: '全盔（A 类，125cc 及以上摩托车乘员）', textStyle: { bold: true } },&#10;                            { text: '≤ 1.60 kg', textStyle: { bold: true } },&#10;                        ],&#10;                        ['A 类 · 半盔', '≤ 1.30 kg'],&#10;                        [&#10;                            { text: 'B 类 · 半盔（125cc 以下摩托车乘员）', cellStyle: { background: { color: '#F0F5FC' } } },&#10;                            { text: '≤ 1.00 kg', textStyle: { bold: true }, cellStyle: { background: { color: '#F0F5FC' } } },&#10;                        ],&#10;                        [&#10;                            { text: '目标用户所持中高端全盔 / 拉力盔', cellStyle: { background: { color: '#F0F5FC' } } },&#10;                            { text: '按 1.6 kg 限值评估', textStyle: { bold: true }, cellStyle: { background: { color: '#F0F5FC' } } },&#10;                        ],&#10;                    ]}&#10;                /&gt;&#10;                &lt;Box style={{ flex: 1, background: '#F0F5FC', borderRadius: 10, padding: '14px 20px', justifyContent: 'center' }}&gt;&#10;                    &lt;Text style={{ fontSize: 19, color: '#0E3F8C', lineHeight: 1.6 }}&gt;关联条款：摩托车乘员头盔实行强制性产品认证（CCC），执行 GB 811-2010（地方政府消费提示）——中高端全盔的质量与做工有基本制度保障。&lt;/Text&gt;&#10;                &lt;/Box&gt;&#10;            &lt;/Box&gt;&#10;            &lt;Box style={{ flex: 1, flexDirection: 'column', gap: 14 }}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单手负荷评估：质量不是主要障碍&lt;/Text&gt;&#10;                    &lt;Text style={{ fontSize: 20, color: '#1A2230', lineHeight: 1.5 }}&gt;全盔实际质量 ≤ 1.6kg，属单手可稳定抓握范围；但摩友多戴骑行手套、且常单手摘盔后随手放置，抓握条件差 → 取放口应支持&quot;托放&quot;而非&quot;悬吊放置&quot;。&lt;/Text&gt;&#10;                &lt;/Box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操作力评估：高频动作要省力&lt;/Text&gt;&#10;                    &lt;Text style={{ fontSize: 20, color: '#1A2230', lineHeight: 1.5 }}&gt;取放每天发生，舱门附加操作力应尽量小；家用竞品 DH-H1 采用按键 + 卡位结构，操作力与学习成本均低于共享设备的扫码 + 触屏流程。&lt;/Text&gt;&#10;                &lt;/Box&gt;&#10;                &lt;Box style={{ flex: 1, border: '1px solid #D6DCE5', borderRadius: 12, padding: '14px 22px', flexDirection: 'column', justifyContent: 'center', gap: 6 }}&gt;&#10;                    &lt;Text style={{ fontSize: 22, fontWeight: 'bold', color: '#0E3F8C' }}&gt;干涉评估：系带是易被忽略的约束&lt;/Text&gt;&#10;                    &lt;Text style={{ fontSize: 20, color: '#1A2230', lineHeight: 1.5 }}&gt;全盔系带自然下垂可触及托放区域，托放面与舱门下缘应做让位与导流，避免放入前需手工收系带的附加动作。&lt;/Text&gt;&#10;                &lt;/Box&gt;&#10;            &lt;/Box&gt;&#10;        &lt;/Box&gt;&#10;        &lt;Box style={{ background: '#0E3F8C', borderRadius: 10, padding: '14px 26px' }}&gt;&#10;            &lt;Text style={{ fontSize: 22, fontWeight: 'bold', color: '#FFFFFF' }}&gt;小结：真正的设计约束不是&quot;头盔太重&quot;，而是&quot;戴骑行手套的单手托放&quot;与&quot;系带勾挂&quot;两个细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GB 811-2010 质量限值与 CCC 认证说明（台州市市场监督管理局消费指南、忻州市人民政府消费提示等公开条款资料）&lt;/Text&gt;&#10;        &lt;Text style={{ fontSize: 14, fontWeight: 'bold', color: '#1E4FA8' }}&gt;10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" name="任意多边形 1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19" name="矩形 1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90550" y="257175"/>
            <a:ext cx="49244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②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：头盔质量与取放负荷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381000" y="1085850"/>
          <a:ext cx="5029200" cy="3199130"/>
        </p:xfrm>
        <a:graphic>
          <a:graphicData uri="http://schemas.openxmlformats.org/drawingml/2006/table">
            <a:tbl>
              <a:tblPr/>
              <a:tblGrid>
                <a:gridCol w="3375025"/>
                <a:gridCol w="1654175"/>
              </a:tblGrid>
              <a:tr h="51181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头盔类别（GB 811-2010）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质量限值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</a:tr>
              <a:tr h="89662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全盔（A 类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，125cc 及以上摩托车乘员）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24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 类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·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3/4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盔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7825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类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型</a:t>
                      </a: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· </a:t>
                      </a:r>
                      <a:r>
                        <a:rPr 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1/2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半盔（内燃机排量不大于125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ml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或电机额定功率总和不大于11</a:t>
                      </a:r>
                      <a:r>
                        <a:rPr lang="en-US" alt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kW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的摩托车乘员、电动自行车乘员</a:t>
                      </a:r>
                      <a:r>
                        <a:rPr lang="zh-CN" altLang="en-US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1.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 kg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</a:tbl>
          </a:graphicData>
        </a:graphic>
      </p:graphicFrame>
      <p:sp>
        <p:nvSpPr>
          <p:cNvPr id="23" name="圆角矩形 22"/>
          <p:cNvSpPr/>
          <p:nvPr/>
        </p:nvSpPr>
        <p:spPr>
          <a:xfrm>
            <a:off x="381000" y="4632960"/>
            <a:ext cx="5029200" cy="1381125"/>
          </a:xfrm>
          <a:prstGeom prst="roundRect">
            <a:avLst>
              <a:gd name="adj" fmla="val 6897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71500" y="4804410"/>
            <a:ext cx="4648200" cy="10477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关联条款：摩托车乘员头盔实行强制性产品认证（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CCC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），执行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GB 811-2022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（地方政府消费提示）</a:t>
            </a:r>
            <a:endParaRPr lang="zh-CN" sz="1425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——中高端全盔的质量与做工有基本制度保障。</a:t>
            </a:r>
            <a:endParaRPr lang="zh-CN" sz="1425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600700" y="4714240"/>
            <a:ext cx="6210300" cy="1266825"/>
          </a:xfrm>
          <a:prstGeom prst="roundRect">
            <a:avLst>
              <a:gd name="adj" fmla="val 902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5810250" y="4804410"/>
            <a:ext cx="57912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干涉评估：系带是易被忽略的约束</a:t>
            </a:r>
            <a:endParaRPr lang="zh-CN" sz="16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810250" y="5166360"/>
            <a:ext cx="57912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全盔系带自然下垂可触及托放区域，托放面与舱门下缘应做让位与导流，避免放入前需手工收系带的附加动作。</a:t>
            </a:r>
            <a:endParaRPr lang="zh-CN" sz="150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37" name="任意多边形 36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381000" y="6543675"/>
            <a:ext cx="6810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GB 811-2010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质量限值与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CCC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认证说明（台州市市场监督管理局消费指南、忻州市人民政府消费提示等公开条款资料）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10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666" t="1579" r="3081"/>
          <a:stretch>
            <a:fillRect/>
          </a:stretch>
        </p:blipFill>
        <p:spPr>
          <a:xfrm>
            <a:off x="5432425" y="1906905"/>
            <a:ext cx="6747510" cy="2253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③：立姿取放高度与整机尺度推导&lt;/Text&gt;&#10;        &lt;/Box&gt;&#10;        &lt;Text style={{ fontSize: 15, color: '#8B97A8' }}&gt;02 人体工学专项分析&lt;/Text&gt;&#10;    &lt;/Box&gt;&#10;    &lt;Box style={{ flex: 1, padding: '20px 40px', flexDirection: 'column', gap: 14 }}&gt;&#10;        &lt;Box style={{ flex: 1, flexDirection: 'row', gap: 20 }}&gt;&#10;            &lt;Box style={{ width: '46%', flexDirection: 'column', gap: 10 }}&gt;&#10;                &lt;Text style={{ fontSize: 21, fontWeight: 'bold', color: '#0E3F8C' }}&gt;设计包络：取女 P5 ~ 男 P95（GB/T 10000-1988，18~60 岁，mm）&lt;/Text&gt;&#10;                &lt;Table&#10;                    style={{ width: '100%', height: 250 }}&#10;                    defaultTextStyle={{ fontSize: 18, textAlign: 'center', color: '#1A2230' }}&#10;                    defaultCellStyle={{&#10;                        border: { left: { width: 1, color: '#D6DCE5' }, right: { width: 1, color: '#D6DCE5' }, top: { width: 1, color: '#D6DCE5' }, bottom: { width: 1, color: '#D6DCE5' } },&#10;                    }}&#10;                    cells={[&#10;                        [&#10;                            { text: '指标', textStyle: { bold: true, color: '#FFFFFF' }, cellStyle: { background: { color: '#1E4FA8' } } },&#10;                            { text: '男 P5', textStyle: { bold: true, color: '#FFFFFF' }, cellStyle: { background: { color: '#1E4FA8' } } },&#10;                            { text: '男 P50', textStyle: { bold: true, color: '#FFFFFF' }, cellStyle: { background: { color: '#1E4FA8' } } },&#10;                            { text: '男 P95', textStyle: { bold: true, color: '#FFFFFF' }, cellStyle: { background: { color: '#1E4FA8' } } },&#10;                            { text: '女 P5', textStyle: { bold: true, color: '#FFFFFF' }, cellStyle: { background: { color: '#1E4FA8' } } },&#10;                            { text: '女 P50', textStyle: { bold: true, color: '#FFFFFF' }, cellStyle: { background: { color: '#1E4FA8' } } },&#10;                            { text: '女 P95', textStyle: { bold: true, color: '#FFFFFF' }, cellStyle: { background: { color: '#1E4FA8' } } },&#10;                        ],&#10;                        ['身高', '1583', '1678', '1775', '1484', '1570', '1659'],&#10;                        [&#10;                            { text: '立姿肘高', cellStyle: { background: { color: '#F0F5FC' } } },&#10;                            { text: '950', cellStyle: { background: { color: '#F0F5FC' } } },&#10;                            { text: '1019', cellStyle: { background: { color: '#F0F5FC' } } },&#10;                            { text: '1087', cellStyle: { background: { color: '#F0F5FC' } } },&#10;                            { text: '895', cellStyle: { background: { color: '#F0F5FC' } } },&#10;                            { text: '956', cellStyle: { background: { color: '#F0F5FC' } } },&#10;                            { text: '1018', cellStyle: { background: { color: '#F0F5FC' } } },&#10;                        ],&#10;                        [&#10;                            { text: '手功能高', cellStyle: { background: { color: '#F0F5FC' } } },&#10;                            { text: '676', cellStyle: { background: { color: '#F0F5FC' } } },&#10;                            { text: '736', cellStyle: { background: { color: '#F0F5FC' } } },&#10;                            { text: '795', cellStyle: { background: { color: '#F0F5FC' } } },&#10;                            { text: '646', cellStyle: { background: { color: '#F0F5FC' } } },&#10;                            { text: '700', cellStyle: { background: { color: '#F0F5FC' } } },&#10;                            { text: '753', cellStyle: { background: { color: '#F0F5FC' } } },&#10;                        ],&#10;                    ]}&#10;                /&gt;&#10;                &lt;Text style={{ fontSize: 15, color: '#8B97A8', lineHeight: 1.5 }}&gt;注：立姿眼高（含穿鞋修正）男 P95 ≈ 1664mm、女 P5 ≈ 1371mm（GB/T 10000-1988 数据，见人机设计文献应用）。&lt;/Text&gt;&#10;            &lt;/Box&gt;&#10;            &lt;Box style={{ flex: 1, flexDirection: 'column', gap: 10 }}&gt;&#10;                &lt;Text style={{ fontSize: 21, fontWeight: 'bold', color: '#0E3F8C' }}&gt;取放高度与放置方式的推导建议&lt;/Text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取放面 650~800mm：&lt;/span&gt;下限取女 P5 手功能高 646mm、上限取男 P95 手功能高 795mm——取放面处于该区间时，无需深弯腰或踮脚。&lt;/Text&gt;&#10;                &lt;/Box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落地放置不可取：&lt;/span&gt;装置若直接落地（高 ≤450mm，brief），取放须弯腰至 646mm 以下、躯干大幅前屈 → 应按&quot;台面 / 支架放置&quot;设计，并提供配套支架选项。&lt;/Text&gt;&#10;                &lt;/Box&gt;&#10;                &lt;Box style={{ flex: 1, borderLeft: '6px solid #1E4FA8', background: '#F7F9FC', borderRadius: 8, padding: '10px 18px', justifyContent: 'center' }}&gt;&#10;                    &lt;Text style={{ fontSize: 20, color: '#1A2230', lineHeight: 1.5 }}&gt;&lt;span style={{ fontWeight: 'bold', color: '#0E3F8C' }}&gt;放置后的整体尺度：&lt;/span&gt;假设台面 / 柜面高 750~800mm（待实测），整机顶面约 1150~1250mm，低于女 P5 立姿眼高 1371mm——指示灯环平视可读，俯视取放自然。&lt;/Text&gt;&#10;                &lt;/Box&gt;&#10;                &lt;Box style={{ flex: 1, borderLeft: '6px solid #D9534F', background: '#F7F9FC', borderRadius: 8, padding: '10px 18px', justifyContent: 'center' }}&gt;&#10;                    &lt;Text style={{ fontSize: 20, color: '#1A2230', lineHeight: 1.5 }}&gt;&lt;span style={{ fontWeight: 'bold', color: '#D9534F' }}&gt;竞品对照：&lt;/span&gt;柜式竞品高 1790~2025mm、重 85~140kg，是公共场所形态——既进不了玄关柜、放不上台面，也违背 brief&quot;潮品摆件&quot;的定位。&lt;/Text&gt;&#10;                &lt;/Box&gt;&#10;            &lt;/Box&gt;&#10;        &lt;/Box&gt;&#10;        &lt;Box style={{ background: '#0E3F8C', borderRadius: 10, padding: '12px 26px' }}&gt;&#10;            &lt;Text style={{ fontSize: 21, fontWeight: 'bold', color: '#FFFFFF' }}&gt;推导方法说明：以 GB/T 10000-1988 立姿百分位数据为输入，叠加 brief 整机尺寸红线（≤40×30×45cm），按&quot;最不使用者也能舒适操作&quot;原则取包络区间；台面高度为假设值，待下阶段姿态实测校核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GB/T 10000-1988（立姿肘高、手功能高数据引自公开发表的国标数据表）；整机尺寸红线见项目需求 brief&lt;/Text&gt;&#10;        &lt;Text style={{ fontSize: 14, fontWeight: 'bold', color: '#1E4FA8' }}&gt;11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2" name="任意多边形 41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43" name="矩形 42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0550" y="257175"/>
            <a:ext cx="60674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③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：立姿取放高度与整机尺度推导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381000" y="1066800"/>
            <a:ext cx="5257800" cy="48577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设计包络：取女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 P5 ~ 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男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 P95</a:t>
            </a:r>
            <a:endParaRPr lang="en-US" sz="1575" b="1">
              <a:solidFill>
                <a:srgbClr val="0C3677"/>
              </a:solidFill>
              <a:latin typeface="Source Han Sans SC"/>
              <a:ea typeface="Source Han Sans SC"/>
            </a:endParaRPr>
          </a:p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（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GB/T 10000-2023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，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18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~70 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岁，</a:t>
            </a:r>
            <a:r>
              <a:rPr lang="en-US" sz="1575" b="1">
                <a:solidFill>
                  <a:srgbClr val="0C3677"/>
                </a:solidFill>
                <a:latin typeface="Source Han Sans SC"/>
                <a:ea typeface="Source Han Sans SC"/>
              </a:rPr>
              <a:t>mm</a:t>
            </a: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）</a:t>
            </a:r>
            <a:endParaRPr lang="zh-CN" sz="157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graphicFrame>
        <p:nvGraphicFramePr>
          <p:cNvPr id="47" name="表格 46"/>
          <p:cNvGraphicFramePr/>
          <p:nvPr/>
        </p:nvGraphicFramePr>
        <p:xfrm>
          <a:off x="381000" y="1647825"/>
          <a:ext cx="5257800" cy="2381252"/>
        </p:xfrm>
        <a:graphic>
          <a:graphicData uri="http://schemas.openxmlformats.org/drawingml/2006/table">
            <a:tbl>
              <a:tblPr/>
              <a:tblGrid>
                <a:gridCol w="922262"/>
                <a:gridCol w="639707"/>
                <a:gridCol w="764031"/>
                <a:gridCol w="764031"/>
                <a:gridCol w="639707"/>
                <a:gridCol w="764031"/>
                <a:gridCol w="764031"/>
              </a:tblGrid>
              <a:tr h="5953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P5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P50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男 P95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P5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P50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 P95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</a:tr>
              <a:tr h="5953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身高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578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1687</a:t>
                      </a:r>
                      <a:endParaRPr lang="en-US" altLang="zh-CN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1800</a:t>
                      </a:r>
                      <a:endParaRPr lang="en-US" altLang="zh-CN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79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157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73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53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立姿肘高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957</a:t>
                      </a:r>
                      <a:endParaRPr lang="en-US" altLang="zh-CN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1037</a:t>
                      </a:r>
                      <a:endParaRPr lang="en-US" altLang="zh-CN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121 </a:t>
                      </a:r>
                      <a:endParaRPr lang="en-US" altLang="zh-CN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895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  <a:tr h="59531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手功能高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altLang="zh-CN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681</a:t>
                      </a:r>
                      <a:endParaRPr lang="en-US" altLang="zh-CN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750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823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</a:t>
                      </a:r>
                      <a:r>
                        <a:rPr lang="en-US"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</a:tbl>
          </a:graphicData>
        </a:graphic>
      </p:graphicFrame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10053" y="4121255"/>
            <a:ext cx="5238115" cy="105473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注：立姿眼高   男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P95=1677mm  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女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P5=1366mm</a:t>
            </a:r>
            <a:endParaRPr lang="en-US" sz="1125">
              <a:solidFill>
                <a:srgbClr val="8B97A8"/>
              </a:solidFill>
              <a:latin typeface="Source Han Sans SC"/>
              <a:ea typeface="Source Han Sans SC"/>
            </a:endParaRPr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（取自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GB/T 10000-2023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数据）。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829300" y="1066800"/>
            <a:ext cx="5981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C3677"/>
                </a:solidFill>
                <a:latin typeface="Source Han Sans SC"/>
                <a:ea typeface="Source Han Sans SC"/>
              </a:rPr>
              <a:t>取放高度与放置方式的推导建议</a:t>
            </a:r>
            <a:endParaRPr lang="zh-CN" sz="157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5886450" y="1409700"/>
            <a:ext cx="5981700" cy="855345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p/>
        </p:txBody>
      </p:sp>
      <p:sp>
        <p:nvSpPr>
          <p:cNvPr id="51" name="任意多边形 50"/>
          <p:cNvSpPr/>
          <p:nvPr/>
        </p:nvSpPr>
        <p:spPr>
          <a:xfrm>
            <a:off x="5886450" y="1409700"/>
            <a:ext cx="5981700" cy="869315"/>
          </a:xfrm>
          <a:custGeom>
            <a:avLst/>
            <a:gdLst/>
            <a:ahLst/>
            <a:cxnLst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57900" y="150495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取放面</a:t>
            </a:r>
            <a:r>
              <a:rPr lang="en-US" alt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640~830mm</a:t>
            </a:r>
            <a:r>
              <a:rPr lang="zh-CN" altLang="en-US" sz="1500" b="1">
                <a:solidFill>
                  <a:srgbClr val="0C3677"/>
                </a:solidFill>
                <a:latin typeface="Source Han Sans SC"/>
                <a:ea typeface="宋体" pitchFamily="2" charset="-122"/>
              </a:rPr>
              <a:t>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限取女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手功能高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644mm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、上限取男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P95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手功能高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823mm</a:t>
            </a:r>
            <a:r>
              <a:rPr lang="zh-CN" altLang="en-US" sz="1500">
                <a:solidFill>
                  <a:srgbClr val="1A2230"/>
                </a:solidFill>
                <a:latin typeface="Source Han Sans SC"/>
                <a:ea typeface="宋体" pitchFamily="2" charset="-122"/>
              </a:rPr>
              <a:t>，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取放面处于该区间时，无需深弯腰或踮脚。</a:t>
            </a:r>
            <a:endParaRPr lang="zh-CN" sz="150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5886450" y="2419350"/>
            <a:ext cx="5981700" cy="1219200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p/>
        </p:txBody>
      </p:sp>
      <p:sp>
        <p:nvSpPr>
          <p:cNvPr id="54" name="任意多边形 53"/>
          <p:cNvSpPr/>
          <p:nvPr/>
        </p:nvSpPr>
        <p:spPr>
          <a:xfrm>
            <a:off x="5886450" y="2419350"/>
            <a:ext cx="5981700" cy="1219200"/>
          </a:xfrm>
          <a:custGeom>
            <a:avLst/>
            <a:gdLst/>
            <a:ahLst/>
            <a:cxnLst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57900" y="251460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0C3677"/>
                </a:solidFill>
                <a:latin typeface="Source Han Sans SC"/>
                <a:ea typeface="Source Han Sans SC"/>
              </a:rPr>
              <a:t>放置后的整体尺度：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假设台面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柜面高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750~800mm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（待实测），整机顶面约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1150~1250mm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，低于女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立姿眼高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1366mm——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指示灯环平视可读，俯视取放自然。</a:t>
            </a:r>
            <a:endParaRPr lang="zh-CN" sz="150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5886450" y="3778885"/>
            <a:ext cx="5981700" cy="1219200"/>
          </a:xfrm>
          <a:prstGeom prst="roundRect">
            <a:avLst>
              <a:gd name="adj" fmla="val 6250"/>
            </a:avLst>
          </a:prstGeom>
          <a:solidFill>
            <a:srgbClr val="F0F4F9"/>
          </a:solidFill>
        </p:spPr>
        <p:txBody>
          <a:bodyPr/>
          <a:p/>
        </p:txBody>
      </p:sp>
      <p:sp>
        <p:nvSpPr>
          <p:cNvPr id="60" name="任意多边形 59"/>
          <p:cNvSpPr/>
          <p:nvPr/>
        </p:nvSpPr>
        <p:spPr>
          <a:xfrm>
            <a:off x="5886450" y="3778885"/>
            <a:ext cx="5981700" cy="1219200"/>
          </a:xfrm>
          <a:custGeom>
            <a:avLst/>
            <a:gdLst/>
            <a:ahLst/>
            <a:cxnLst/>
            <a:pathLst>
              <a:path w="628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057900" y="3865880"/>
            <a:ext cx="55816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D9534F"/>
                </a:solidFill>
                <a:latin typeface="Source Han Sans SC"/>
                <a:ea typeface="Source Han Sans SC"/>
              </a:rPr>
              <a:t>竞品对照：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柜式竞品高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1790~2025mm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、重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85~140kg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，是公共场所形态——既进不了玄关柜、放不上台面，也违背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brief"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潮品摆件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的定位。</a:t>
            </a:r>
            <a:endParaRPr lang="zh-CN" sz="150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381000" y="5457825"/>
            <a:ext cx="11430000" cy="714375"/>
          </a:xfrm>
          <a:prstGeom prst="roundRect">
            <a:avLst>
              <a:gd name="adj" fmla="val 13333"/>
            </a:avLst>
          </a:prstGeom>
          <a:solidFill>
            <a:srgbClr val="0C3677"/>
          </a:solidFill>
        </p:spPr>
        <p:txBody>
          <a:bodyPr/>
          <a:p/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628650" y="5572125"/>
            <a:ext cx="10934700" cy="48577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推导方法说明：以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GB/T 10000-2023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立姿百分位数据为输入，叠加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brief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整机尺寸红线（≤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40×30×45cm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），按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最不使用者也能舒适操作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原则取包络区间；台面高度为假设值，待下阶段姿态实测校核。</a:t>
            </a:r>
            <a:endParaRPr lang="zh-CN" sz="1575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65" name="任意多边形 64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381000" y="6543675"/>
            <a:ext cx="6162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GB/T 10000-1988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（立姿肘高、手功能高数据引自公开发表的国标数据表）；整机尺寸红线见项目需求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endParaRPr lang="en-US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11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人体工学分析 ④：操作动作分解&lt;/Text&gt;&#10;        &lt;/Box&gt;&#10;        &lt;Text style={{ fontSize: 15, color: '#8B97A8' }}&gt;02 人体工学专项分析&lt;/Text&gt;&#10;    &lt;/Box&gt;&#10;    &lt;Box style={{ flex: 1, padding: '20px 40px', flexDirection: 'column', gap: 16 }}&gt;&#10;        &lt;Box style={{ flexDirection: 'column', gap: 8 }}&gt;&#10;            &lt;Box style={{ flexDirection: 'row', alignItems: 'center', gap: 8 }}&gt;&#10;                {[['①', '到家摘盔', '玄关 / 车库'], ['②', '放入托架', '托放对位'], ['③', '一键启动', '通风+UV'], ['④', '自动运行', '约 30 min'], ['⑤', '开盖断电', 'UV 安全联锁'], ['⑥', '次日取用', '干爽无异味']].map((s, i) =&gt; (&#10;                    &lt;Box key={i} style={{ flex: 1, flexDirection: 'row', alignItems: 'center', gap: 8 }}&gt;&#10;                        &lt;Box style={{ flex: 1, background: '#F0F5FC', borderRadius: 10, padding: '12px 6px', alignItems: 'center', gap: 4 }}&gt;&#10;                            &lt;Text style={{ fontSize: 26, fontWeight: 'bold', color: '#1E4FA8' }}&gt;{s[0]}&lt;/Text&gt;&#10;                            &lt;Text style={{ fontSize: 19, fontWeight: 'bold', color: '#0E3F8C', textAlign: 'center' }}&gt;{s[1]}&lt;/Text&gt;&#10;                            &lt;Text style={{ fontSize: 16, color: '#8B97A8', textAlign: 'center' }}&gt;{s[2]}&lt;/Text&gt;&#10;                        &lt;/Box&gt;&#10;                        {i &lt; 5 &amp;&amp; &lt;Text style={{ fontSize: 22, color: '#3D7BD9', fontWeight: 'bold' }}&gt;→&lt;/Text&gt;}&#10;                    &lt;/Box&gt;&#10;                ))}&#10;            &lt;/Box&gt;&#10;            &lt;Text style={{ fontSize: 15, color: '#8B97A8' }}&gt;流程依据项目需求 brief 的功能定义：一键启动、自动通风干燥（30 分钟内明显降低内衬湿度）、UV-C 照射 15~30 分钟定时关闭、开盖自动断电联锁、噪音不高于 45dB。&lt;/Text&gt;&#10;        &lt;/Box&gt;&#10;        &lt;Table&#10;            style={{ width: '100%', height: 252 }}&#10;            defaultTextStyle={{ fontSize: 20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关键步骤', textStyle: { bold: true, color: '#FFFFFF' }, cellStyle: { background: { color: '#1E4FA8' } } },&#10;                    { text: '主要动作', textStyle: { bold: true, color: '#FFFFFF' }, cellStyle: { background: { color: '#1E4FA8' } } },&#10;                    { text: '身体部位', textStyle: { bold: true, color: '#FFFFFF' }, cellStyle: { background: { color: '#1E4FA8' } } },&#10;                    { text: '人机要点（对照第 9~11 页数据）', textStyle: { bold: true, color: '#FFFFFF' }, cellStyle: { background: { color: '#1E4FA8' } } },&#10;                ],&#10;                [&#10;                    { text: '② 放入头盔', textStyle: { bold: true } },&#10;                    { text: '单手托放 + 对位', textStyle: { bold: true } },&#10;                    { text: '手臂 · 腰背', textStyle: { bold: true } },&#10;                    { text: '取放面 650~800mm（台面放置）；开口兼容 30×25×35cm 全盔外廓；防系带勾挂', textStyle: { bold: true }, cellStyle: { background: { color: '#F0F5FC' } } },&#10;                ],&#10;                ['③ 一键启动', '戴手套按压', '手指 · 手', '按键须戴骑行手套可操作；brief 要求极致简化——无 APP、无复杂面板，状态用一圈指示灯表达'],&#10;                [&#10;                    { text: '⑤ 开盖 / 取放', textStyle: { bold: true } },&#10;                    { text: '开盖 / 关盖', textStyle: { bold: true } },&#10;                    { text: '手臂', textStyle: { bold: true } },&#10;                    { text: 'UV-C 开盖自动断电是不可妥协的安全红线（brief）；门体操作力尽量小、关门防夹', cellStyle: { background: { color: '#F0F5FC' } } },&#10;                ],&#10;                ['④⑥ 等待 / 取用', '无人值守', '—', '30 分钟自动循环、无需看护——等待发生在用户离开之后，与共享设备的&quot;在场等待&quot;模式本质不同'],&#10;            ]}&#10;        /&gt;&#10;        &lt;Box style={{ background: '#0E3F8C', borderRadius: 10, padding: '12px 26px' }}&gt;&#10;            &lt;Text style={{ fontSize: 22, fontWeight: 'bold', color: '#FFFFFF' }}&gt;结论：② 取放与 ③ 一键交互决定操作体验的下限；④⑤ 的&quot;无人值守 + 安全联锁&quot;是本产品与共享消毒设备最大的场景差异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动作分解方法：作业分析（流程步骤 × 身体部位 × 人机要点）；功能参数引自项目需求 brief&lt;/Text&gt;&#10;        &lt;Text style={{ fontSize: 14, fontWeight: 'bold', color: '#1E4FA8' }}&gt;12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0" name="任意多边形 69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71" name="矩形 70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90550" y="257175"/>
            <a:ext cx="406717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人体工学分析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④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：操作动作分解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10487025" y="342900"/>
            <a:ext cx="1323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02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人体工学专项分析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381000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03822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①</a:t>
            </a:r>
            <a:endParaRPr sz="19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80010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到家摘盔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90575" y="1781175"/>
            <a:ext cx="74295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玄关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车库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200977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  <a:endParaRPr sz="1650" b="1">
              <a:solidFill>
                <a:srgbClr val="3469B8"/>
              </a:solidFill>
              <a:latin typeface="Source Han Sans SC"/>
              <a:ea typeface="Source Han Sans SC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2295525" y="1066800"/>
            <a:ext cx="1562100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295275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②</a:t>
            </a:r>
            <a:endParaRPr sz="19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271462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放入托架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2771775" y="1781175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托放对位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393382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  <a:endParaRPr sz="1650" b="1">
              <a:solidFill>
                <a:srgbClr val="3469B8"/>
              </a:solidFill>
              <a:latin typeface="Source Han Sans SC"/>
              <a:ea typeface="Source Han Sans SC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4219575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487680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③</a:t>
            </a:r>
            <a:endParaRPr sz="19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463867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一键启动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714875" y="1781175"/>
            <a:ext cx="57150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通风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+UV</a:t>
            </a:r>
            <a:endParaRPr lang="en-US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5848350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  <a:endParaRPr sz="1650" b="1">
              <a:solidFill>
                <a:srgbClr val="3469B8"/>
              </a:solidFill>
              <a:latin typeface="Source Han Sans SC"/>
              <a:ea typeface="Source Han Sans SC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134100" y="1066800"/>
            <a:ext cx="155257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79132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④</a:t>
            </a:r>
            <a:endParaRPr sz="19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55320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自动运行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6591300" y="1781175"/>
            <a:ext cx="64770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约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30 min</a:t>
            </a:r>
            <a:endParaRPr lang="en-US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776287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  <a:endParaRPr sz="1650" b="1">
              <a:solidFill>
                <a:srgbClr val="3469B8"/>
              </a:solidFill>
              <a:latin typeface="Source Han Sans SC"/>
              <a:ea typeface="Source Han Sans SC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8048625" y="1066800"/>
            <a:ext cx="1562100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8705850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⑤</a:t>
            </a:r>
            <a:endParaRPr sz="19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8467725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开盖断电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410575" y="1781175"/>
            <a:ext cx="83820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UV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安全联锁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9686925" y="1447800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3469B8"/>
                </a:solidFill>
                <a:latin typeface="Source Han Sans SC"/>
                <a:ea typeface="Source Han Sans SC"/>
              </a:rPr>
              <a:t>→</a:t>
            </a:r>
            <a:endParaRPr sz="1650" b="1">
              <a:solidFill>
                <a:srgbClr val="3469B8"/>
              </a:solidFill>
              <a:latin typeface="Source Han Sans SC"/>
              <a:ea typeface="Source Han Sans SC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9972675" y="1066800"/>
            <a:ext cx="1838325" cy="1019175"/>
          </a:xfrm>
          <a:prstGeom prst="roundRect">
            <a:avLst>
              <a:gd name="adj" fmla="val 9346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772775" y="1181100"/>
            <a:ext cx="2476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A438F"/>
                </a:solidFill>
                <a:latin typeface="Source Han Sans SC"/>
                <a:ea typeface="Source Han Sans SC"/>
              </a:rPr>
              <a:t>⑥</a:t>
            </a:r>
            <a:endParaRPr sz="19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534650" y="15240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C3677"/>
                </a:solidFill>
                <a:latin typeface="Source Han Sans SC"/>
                <a:ea typeface="Source Han Sans SC"/>
              </a:rPr>
              <a:t>次日取用</a:t>
            </a:r>
            <a:endParaRPr lang="zh-CN" sz="1425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0515600" y="1781175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干爽无异味</a:t>
            </a:r>
            <a:endParaRPr lang="zh-CN" sz="12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381000" y="2162175"/>
            <a:ext cx="11430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流程依据项目需求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brief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的功能定义：一键启动、自动通风干燥（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30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分钟内明显降低内衬湿度）、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UV-C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照射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15~30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分钟定时关闭、开盖自动断电联锁、噪音不高于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45dB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。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graphicFrame>
        <p:nvGraphicFramePr>
          <p:cNvPr id="104" name="表格 103"/>
          <p:cNvGraphicFramePr/>
          <p:nvPr/>
        </p:nvGraphicFramePr>
        <p:xfrm>
          <a:off x="381000" y="2486025"/>
          <a:ext cx="11430000" cy="3131185"/>
        </p:xfrm>
        <a:graphic>
          <a:graphicData uri="http://schemas.openxmlformats.org/drawingml/2006/table">
            <a:tbl>
              <a:tblPr/>
              <a:tblGrid>
                <a:gridCol w="1372235"/>
                <a:gridCol w="1381125"/>
                <a:gridCol w="1087120"/>
                <a:gridCol w="7589520"/>
              </a:tblGrid>
              <a:tr h="6057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关键步骤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主要动作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身体部位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人机要点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</a:tr>
              <a:tr h="6400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② 放入头盔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单手托放</a:t>
                      </a:r>
                      <a:r>
                        <a:rPr lang="zh-CN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对位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手臂 </a:t>
                      </a:r>
                      <a:r>
                        <a:rPr lang="zh-CN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腰背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取放面 6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40~830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mm（台面放置）；开口兼容 30×25×35cm 全盔外廓；防系带勾挂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  <a:tr h="63944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③ 一键启动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戴手套按压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手指 </a:t>
                      </a: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、</a:t>
                      </a:r>
                      <a:endParaRPr lang="zh-CN"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</a:t>
                      </a:r>
                      <a:endParaRPr lang="zh-CN"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按键须戴骑行手套可操作；brief 要求极致简化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7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⑤ 开盖取放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开盖</a:t>
                      </a:r>
                      <a:r>
                        <a:rPr lang="en-US"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关盖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手臂</a:t>
                      </a:r>
                      <a:endParaRPr sz="15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UV-C 开盖自动断电是不可妥协的安全红线（brief）；门体操作力尽量小、关门防夹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  <a:tr h="64008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④⑥ 等待取用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无人值守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5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分钟自动循环、无需看护——等待发生在用户离开之后，与共享设备的"在场等待"模式本质不同</a:t>
                      </a:r>
                      <a:endParaRPr sz="15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5" name="圆角矩形 104"/>
          <p:cNvSpPr/>
          <p:nvPr/>
        </p:nvSpPr>
        <p:spPr>
          <a:xfrm>
            <a:off x="381000" y="5768975"/>
            <a:ext cx="11430000" cy="504825"/>
          </a:xfrm>
          <a:prstGeom prst="roundRect">
            <a:avLst>
              <a:gd name="adj" fmla="val 12987"/>
            </a:avLst>
          </a:prstGeom>
          <a:solidFill>
            <a:srgbClr val="0C3677"/>
          </a:solidFill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530225" y="5927090"/>
            <a:ext cx="10934700" cy="504825"/>
          </a:xfrm>
          <a:prstGeom prst="rect">
            <a:avLst/>
          </a:prstGeom>
        </p:spPr>
        <p:txBody>
          <a:bodyPr wrap="square" lIns="0" tIns="0" rIns="0" bIns="0">
            <a:normAutofit lnSpcReduction="20000"/>
          </a:bodyPr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结论：②取放与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③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一键交互决定操作体验的下限；④⑤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是本产品与共享消毒设备最大的场景差异。</a:t>
            </a:r>
            <a:endParaRPr lang="zh-CN" sz="1650" b="1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108" name="任意多边形 107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381000" y="6543675"/>
            <a:ext cx="509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动作分解方法：作业分析（流程步骤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身体部位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×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人机要点）；功能参数引自项目需求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brief</a:t>
            </a:r>
            <a:endParaRPr lang="en-US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12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 descr="&lt;Slide style={{ width: 1280, height: 720, background: '#FFFFFF', fontFamily: &quot;'Source Han Sans SC','Noto Sans SC','Microsoft YaHei',sans-serif&quot;, position: 'relative' }}&gt;&#10;    &lt;Box style={{ position: 'absolute', top: -80, right: -60, width: 380, height: 380, borderRadius: 190, background: '#F0F5FC' }} /&gt;&#10;    &lt;Box style={{ flexDirection: 'row', height: '100%', alignItems: 'center', padding: '0 40px', position: 'relative' }}&gt;&#10;        &lt;Box style={{ width: 400, justifyContent: 'flex-end', paddingBottom: 40 }}&gt;&#10;            &lt;Text style={{ fontSize: 300, fontWeight: 'bold', color: '#1E4FA8' }}&gt;03&lt;/Text&gt;&#10;        &lt;/Box&gt;&#10;        &lt;Box style={{ flex: 1, paddingLeft: 40, flexDirection: 'column', gap: 30 }}&gt;&#10;            &lt;Box style={{ flexDirection: 'row', alignItems: 'center', gap: 14 }}&gt;&#10;                &lt;Box style={{ width: 52, height: 5, background: '#FFC107' }} /&gt;&#10;                &lt;Text style={{ fontSize: 20, color: '#8B97A8', letterSpacing: 4 }}&gt;SECTION 03&lt;/Text&gt;&#10;            &lt;/Box&gt;&#10;            &lt;Text style={{ fontSize: 46, fontWeight: 'bold', color: '#0E3F8C', letterSpacing: 2 }}&gt;竞品分析与设计建议&lt;/Text&gt;&#10;            &lt;Box style={{ flexDirection: 'column', gap: 16 }}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四款公开竞品：台式烘干机 / 支架式烘干器 / 共享清洗机 / 机构消毒柜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参数对照：整机尺寸、消毒方式、烘干、功率、定时、交互方式&lt;/Text&gt;&#10;                &lt;/Box&gt;&#10;                &lt;Box style={{ flexDirection: 'row', alignItems: 'center', gap: 14 }}&gt;&#10;                    &lt;Box style={{ width: 12, height: 12, background: '#1E4FA8', borderRadius: 3 }} /&gt;&#10;                    &lt;Text style={{ fontSize: 23, color: '#1A2230' }}&gt;人机匹配性评价：用第 02 章推导的尺寸区间逐一检验&lt;/Text&gt;&#10;                &lt;/Box&gt;&#10;            &lt;/Box&gt;&#10;            &lt;Box style={{ background: '#F0F5FC', borderRadius: 10, padding: '14px 22px', marginTop: 6 }}&gt;&#10;                &lt;Text style={{ fontSize: 19, color: '#0E3F8C', lineHeight: 1.6 }}&gt;竞品参数均取自厂商及经销渠道公开产品页（2026 年 10 月检索），未实测；评价部分为&quot;公开参数 × 国标数据 × brief 约束&quot;的交叉推导。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3" name="圆角矩形 112"/>
          <p:cNvSpPr/>
          <p:nvPr/>
        </p:nvSpPr>
        <p:spPr>
          <a:xfrm>
            <a:off x="9144000" y="-76200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81000" y="1524000"/>
            <a:ext cx="3810000" cy="3429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1A438F"/>
                </a:solidFill>
                <a:latin typeface="Source Han Sans SC"/>
                <a:ea typeface="Source Han Sans SC"/>
              </a:rPr>
              <a:t>03</a:t>
            </a:r>
            <a:endParaRPr lang="en-US" sz="2250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4572000" y="1657350"/>
            <a:ext cx="495300" cy="47625"/>
          </a:xfrm>
          <a:prstGeom prst="rect">
            <a:avLst/>
          </a:prstGeom>
          <a:solidFill>
            <a:srgbClr val="FFC107"/>
          </a:solidFill>
        </p:spPr>
        <p:txBody>
          <a:bodyPr/>
          <a:p/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5200650" y="1562100"/>
            <a:ext cx="13906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8B97A8"/>
                </a:solidFill>
                <a:latin typeface="Source Han Sans SC"/>
                <a:ea typeface="Source Han Sans SC"/>
              </a:rPr>
              <a:t>SECTION 03</a:t>
            </a:r>
            <a:endParaRPr lang="en-US" sz="1500" spc="300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4572000" y="2076450"/>
            <a:ext cx="72390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0C3677"/>
                </a:solidFill>
                <a:latin typeface="Source Han Sans SC"/>
                <a:ea typeface="Source Han Sans SC"/>
              </a:rPr>
              <a:t>竞品分析与设计建议</a:t>
            </a:r>
            <a:endParaRPr lang="zh-CN" sz="3450" b="1" spc="150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4572000" y="2971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4819650" y="2895600"/>
            <a:ext cx="66865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四款公开竞品：台式烘干机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支架式烘干器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共享清洗机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机构消毒柜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20" name="圆角矩形 119"/>
          <p:cNvSpPr/>
          <p:nvPr/>
        </p:nvSpPr>
        <p:spPr>
          <a:xfrm>
            <a:off x="4572000" y="33909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819650" y="3314700"/>
            <a:ext cx="61341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参数对照：整机尺寸、消毒方式、烘干、功率、定时、交互方式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4572000" y="3810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A438F"/>
          </a:soli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4819650" y="3733800"/>
            <a:ext cx="51530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人机匹配性评价：用第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02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章推导的尺寸区间逐一检验</a:t>
            </a:r>
            <a:endParaRPr lang="zh-CN" sz="1725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24" name="圆角矩形 123"/>
          <p:cNvSpPr/>
          <p:nvPr/>
        </p:nvSpPr>
        <p:spPr>
          <a:xfrm>
            <a:off x="4572000" y="4343400"/>
            <a:ext cx="7239000" cy="962025"/>
          </a:xfrm>
          <a:prstGeom prst="roundRect">
            <a:avLst>
              <a:gd name="adj" fmla="val 9901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781550" y="4476750"/>
            <a:ext cx="68199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竞品参数均取自厂商及经销渠道公开产品页（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2026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年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10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月检索），未实测；评价部分为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公开参数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×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国标数据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 × brief 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约束</a:t>
            </a:r>
            <a:r>
              <a:rPr lang="en-US" sz="1425">
                <a:solidFill>
                  <a:srgbClr val="0C3677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0C3677"/>
                </a:solidFill>
                <a:latin typeface="Source Han Sans SC"/>
                <a:ea typeface="Source Han Sans SC"/>
              </a:rPr>
              <a:t>的交叉推导。</a:t>
            </a:r>
            <a:endParaRPr lang="zh-CN" sz="1425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竞品参数对照（公开产品资料，2026.10 检索）&lt;/Text&gt;&#10;        &lt;/Box&gt;&#10;        &lt;Text style={{ fontSize: 15, color: '#8B97A8' }}&gt;03 竞品分析与设计建议&lt;/Text&gt;&#10;    &lt;/Box&gt;&#10;    &lt;Box style={{ flex: 1, padding: '20px 40px', flexDirection: 'column', gap: 12 }}&gt;&#10;        &lt;Table&#10;            style={{ width: '100%', height: 430 }}&#10;            defaultTextStyle={{ fontSize: 18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项目', textStyle: { bold: true, color: '#FFFFFF' }, cellStyle: { background: { color: '#1E4FA8' } } },&#10;                    { text: '头盔医生 DH-H1\n台式安全帽烘干机', textStyle: { bold: true, color: '#FFFFFF' }, cellStyle: { background: { color: '#1E4FA8' } } },&#10;                    { text: '干博士 Dr.DRY\nDR2Y-19 支架式烘干器（日本）', textStyle: { bold: true, color: '#FFFFFF' }, cellStyle: { background: { color: '#1E4FA8' } } },&#10;                    { text: '文铭 WM-TKX-1\n共享自助清洗机', textStyle: { bold: true, color: '#FFFFFF' }, cellStyle: { background: { color: '#1E4FA8' } } },&#10;                    { text: '福意联\n正压头盔消毒柜', textStyle: { bold: true, color: '#FFFFFF' }, cellStyle: { background: { color: '#1E4FA8' } } },&#10;                ],&#10;                ['形态定位', '台式烘干机', '支架式烘干器', '公共场所自助设备', '柜式（医用 / 机构向）'],&#10;                [&#10;                    { text: '整机尺寸 (mm)', cellStyle: { background: { color: '#F7F9FC' } } },&#10;                    { text: '363×270×160', cellStyle: { background: { color: '#F7F9FC' } } },&#10;                    { text: '284×84×130', cellStyle: { background: { color: '#F7F9FC' } } },&#10;                    { text: '550×650×1790', cellStyle: { background: { color: '#F7F9FC' } } },&#10;                    { text: '未公开', cellStyle: { background: { color: '#F7F9FC' } } },&#10;                ],&#10;                ['消毒方式', '紫外线杀菌 + 臭氧', '紫外线杀菌灯 4 根（365nm）', 'UV 紫外线辐射', 'UVC 254nm + 臭氧 ≥0.1ppm'],&#10;                [&#10;                    { text: '烘干方式', cellStyle: { background: { color: '#F7F9FC' } } },&#10;                    { text: '九种烘干模式，三段风量', cellStyle: { background: { color: '#F7F9FC' } } },&#10;                    { text: '暖风约 50~60°C / 常温送风可切换', cellStyle: { background: { color: '#F7F9FC' } } },&#10;                    { text: '40~60°C 热风', cellStyle: { background: { color: '#F7F9FC' } } },&#10;                    { text: '50~60°C 循环风', cellStyle: { background: { color: '#F7F9FC' } } },&#10;                ],&#10;                ['额定功率', '240W', '暖风 100W / 送风 6W', '单舱 1100W / 待机 40W', '1500W'],&#10;                [&#10;                    { text: '定时 / 时长', cellStyle: { background: { color: '#F7F9FC' } } },&#10;                    { text: '未标注', cellStyle: { background: { color: '#F7F9FC' } } },&#10;                    { text: '10 分钟步进，最长 90 分钟', cellStyle: { background: { color: '#F7F9FC' } } },&#10;                    { text: '普通清洗 7min / 精细 12min', cellStyle: { background: { color: '#F7F9FC' } } },&#10;                    { text: '未标注', cellStyle: { background: { color: '#F7F9FC' } } },&#10;                ],&#10;                ['交互方式', '七色气氛灯 + 按键', '数字显示 + 定时', '15.6&quot; 触摸屏 + 扫码 / 投币', '控制面板（非自助）'],&#10;                [&#10;                    { text: '与本项目定位对照', textStyle: { bold: true }, cellStyle: { background: { color: '#F0F5FC' } } },&#10;                    { text: '形态接近、腔体开放', textStyle: { bold: true }, cellStyle: { background: { color: '#F0F5FC' } } },&#10;                    { text: '便携、无封闭腔体', textStyle: { bold: true }, cellStyle: { background: { color: '#F0F5FC' } } },&#10;                    { text: '形态 / 场景不符', textStyle: { bold: true }, cellStyle: { background: { color: '#F0F5FC' } } },&#10;                    { text: '调性 / 场景不符', textStyle: { bold: true }, cellStyle: { background: { color: '#F0F5FC' } } },&#10;                ],&#10;            ]}&#10;        /&gt;&#10;        &lt;Box style={{ background: '#F0F5FC', borderRadius: 10, padding: '12px 22px' }}&gt;&#10;            &lt;Text style={{ fontSize: 20, fontWeight: 'bold', color: '#0E3F8C' }}&gt;横向观察：家用两款小巧但腔体开放；柜式两款封闭性好却高达 1790mm+。四款无一同时满足&quot;容纳 30×25×35cm 全盔 + 封闭腔体安全联锁 + 一键交互 + 摆件化形态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头盔医生 DH-H1（六姐骑士部品商品页）、干博士 Dr.DRY DR2Y-19（monocolle 产品页）、文铭机械官网、福意联产品页；均未实测，&quot;未公开 / 未标注&quot;如实记录&lt;/Text&gt;&#10;        &lt;Text style={{ fontSize: 14, fontWeight: 'bold', color: '#1E4FA8' }}&gt;14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8" name="任意多边形 12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129" name="矩形 12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90550" y="257175"/>
            <a:ext cx="58864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竞品参数对照（公开产品资料</a:t>
            </a:r>
            <a:r>
              <a:rPr lang="en-US" sz="2250" b="1">
                <a:solidFill>
                  <a:srgbClr val="0C3677"/>
                </a:solidFill>
                <a:latin typeface="Source Han Sans SC"/>
                <a:ea typeface="Source Han Sans SC"/>
              </a:rPr>
              <a:t> </a:t>
            </a: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检索）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graphicFrame>
        <p:nvGraphicFramePr>
          <p:cNvPr id="132" name="表格 131"/>
          <p:cNvGraphicFramePr/>
          <p:nvPr/>
        </p:nvGraphicFramePr>
        <p:xfrm>
          <a:off x="381000" y="1066800"/>
          <a:ext cx="11429365" cy="5102225"/>
        </p:xfrm>
        <a:graphic>
          <a:graphicData uri="http://schemas.openxmlformats.org/drawingml/2006/table">
            <a:tbl>
              <a:tblPr/>
              <a:tblGrid>
                <a:gridCol w="1525270"/>
                <a:gridCol w="2061845"/>
                <a:gridCol w="2865120"/>
                <a:gridCol w="2428875"/>
                <a:gridCol w="2548255"/>
              </a:tblGrid>
              <a:tr h="876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头盔医生 DH-H1
台式安全帽烘干机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干博士 Dr.DRY
DR2Y-19 支架式烘干器（日本）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文铭 WM-TKX-1
共享自助清洗机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福意联
正压头盔消毒柜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</a:tr>
              <a:tr h="50673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形态定位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台式烘干机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支架式烘干器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公共场所自助设备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柜式（医用/机构向）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673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整机尺寸 (mm)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363×270×160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284×84×130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550×650×1790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未公开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</a:tr>
              <a:tr h="5073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消毒方式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紫外线杀菌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臭氧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紫外线杀菌灯 4 根（365nm）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 紫外线辐射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UVC 254nm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臭氧 ≥0.1ppm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245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烘干方式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九种烘干模式，三段风量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暖风约 50~60°C / 常温送风可切换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40~60°C 热风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50~60°C 循环风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</a:tr>
              <a:tr h="50609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额定功率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240W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暖风 100W / 送风 6W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单舱 1100W/待机 40W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1500W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673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定时/时长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分钟步进，最长 90 分钟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普通清洗 7min/精细 12min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</a:tr>
              <a:tr h="50673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交互方式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七色气氛灯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按键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数字显示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15.6" 触摸屏/投币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控制面板（非自助）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30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与本项目定位对照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形态接近、腔体开放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无封闭腔体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形态</a:t>
                      </a: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、</a:t>
                      </a: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场景不符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场景不符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</a:tbl>
          </a:graphicData>
        </a:graphic>
      </p:graphicFrame>
      <p:sp>
        <p:nvSpPr>
          <p:cNvPr id="135" name="矩形 134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136" name="任意多边形 135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9115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来源：头盔医生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DH-H1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（六姐骑士部品商品页）、干博士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monocolle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产品页）、文铭机械官网、福意联产品页；均未实测，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未公开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未标注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如实记录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14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 descr="&lt;Slide style={{ width: 1280, height: 720, background: '#FFFFFF', fontFamily: &quot;'Source Han Sans SC','Noto Sans SC','Microsoft YaHei',sans-serif&quot; }}&gt;&#10;    &lt;Box style={{ height: 92, flexDirection: 'row', justifyContent: 'space-between', alignItems: 'center', padding: '0 40px', borderBottom: '2px solid #1E4FA8' }}&gt;&#10;        &lt;Box style={{ flexDirection: 'row', alignItems: 'center', gap: 14 }}&gt;&#10;            &lt;Box style={{ width: 8, height: 40, background: '#1E4FA8' }} /&gt;&#10;            &lt;Text style={{ fontSize: 30, fontWeight: 'bold', color: '#0E3F8C' }}&gt;竞品参数对照（公开产品资料，2026.10 检索）&lt;/Text&gt;&#10;        &lt;/Box&gt;&#10;        &lt;Text style={{ fontSize: 15, color: '#8B97A8' }}&gt;03 竞品分析与设计建议&lt;/Text&gt;&#10;    &lt;/Box&gt;&#10;    &lt;Box style={{ flex: 1, padding: '20px 40px', flexDirection: 'column', gap: 12 }}&gt;&#10;        &lt;Table&#10;            style={{ width: '100%', height: 430 }}&#10;            defaultTextStyle={{ fontSize: 18, textAlign: 'center', color: '#1A2230' }}&#10;            defaultCellStyle={{&#10;                border: { left: { width: 1, color: '#D6DCE5' }, right: { width: 1, color: '#D6DCE5' }, top: { width: 1, color: '#D6DCE5' }, bottom: { width: 1, color: '#D6DCE5' } },&#10;            }}&#10;            cells={[&#10;                [&#10;                    { text: '项目', textStyle: { bold: true, color: '#FFFFFF' }, cellStyle: { background: { color: '#1E4FA8' } } },&#10;                    { text: '头盔医生 DH-H1\n台式安全帽烘干机', textStyle: { bold: true, color: '#FFFFFF' }, cellStyle: { background: { color: '#1E4FA8' } } },&#10;                    { text: '干博士 Dr.DRY\nDR2Y-19 支架式烘干器（日本）', textStyle: { bold: true, color: '#FFFFFF' }, cellStyle: { background: { color: '#1E4FA8' } } },&#10;                    { text: '文铭 WM-TKX-1\n共享自助清洗机', textStyle: { bold: true, color: '#FFFFFF' }, cellStyle: { background: { color: '#1E4FA8' } } },&#10;                    { text: '福意联\n正压头盔消毒柜', textStyle: { bold: true, color: '#FFFFFF' }, cellStyle: { background: { color: '#1E4FA8' } } },&#10;                ],&#10;                ['形态定位', '台式烘干机', '支架式烘干器', '公共场所自助设备', '柜式（医用 / 机构向）'],&#10;                [&#10;                    { text: '整机尺寸 (mm)', cellStyle: { background: { color: '#F7F9FC' } } },&#10;                    { text: '363×270×160', cellStyle: { background: { color: '#F7F9FC' } } },&#10;                    { text: '284×84×130', cellStyle: { background: { color: '#F7F9FC' } } },&#10;                    { text: '550×650×1790', cellStyle: { background: { color: '#F7F9FC' } } },&#10;                    { text: '未公开', cellStyle: { background: { color: '#F7F9FC' } } },&#10;                ],&#10;                ['消毒方式', '紫外线杀菌 + 臭氧', '紫外线杀菌灯 4 根（365nm）', 'UV 紫外线辐射', 'UVC 254nm + 臭氧 ≥0.1ppm'],&#10;                [&#10;                    { text: '烘干方式', cellStyle: { background: { color: '#F7F9FC' } } },&#10;                    { text: '九种烘干模式，三段风量', cellStyle: { background: { color: '#F7F9FC' } } },&#10;                    { text: '暖风约 50~60°C / 常温送风可切换', cellStyle: { background: { color: '#F7F9FC' } } },&#10;                    { text: '40~60°C 热风', cellStyle: { background: { color: '#F7F9FC' } } },&#10;                    { text: '50~60°C 循环风', cellStyle: { background: { color: '#F7F9FC' } } },&#10;                ],&#10;                ['额定功率', '240W', '暖风 100W / 送风 6W', '单舱 1100W / 待机 40W', '1500W'],&#10;                [&#10;                    { text: '定时 / 时长', cellStyle: { background: { color: '#F7F9FC' } } },&#10;                    { text: '未标注', cellStyle: { background: { color: '#F7F9FC' } } },&#10;                    { text: '10 分钟步进，最长 90 分钟', cellStyle: { background: { color: '#F7F9FC' } } },&#10;                    { text: '普通清洗 7min / 精细 12min', cellStyle: { background: { color: '#F7F9FC' } } },&#10;                    { text: '未标注', cellStyle: { background: { color: '#F7F9FC' } } },&#10;                ],&#10;                ['交互方式', '七色气氛灯 + 按键', '数字显示 + 定时', '15.6&quot; 触摸屏 + 扫码 / 投币', '控制面板（非自助）'],&#10;                [&#10;                    { text: '与本项目定位对照', textStyle: { bold: true }, cellStyle: { background: { color: '#F0F5FC' } } },&#10;                    { text: '形态接近、腔体开放', textStyle: { bold: true }, cellStyle: { background: { color: '#F0F5FC' } } },&#10;                    { text: '便携、无封闭腔体', textStyle: { bold: true }, cellStyle: { background: { color: '#F0F5FC' } } },&#10;                    { text: '形态 / 场景不符', textStyle: { bold: true }, cellStyle: { background: { color: '#F0F5FC' } } },&#10;                    { text: '调性 / 场景不符', textStyle: { bold: true }, cellStyle: { background: { color: '#F0F5FC' } } },&#10;                ],&#10;            ]}&#10;        /&gt;&#10;        &lt;Box style={{ background: '#F0F5FC', borderRadius: 10, padding: '12px 22px' }}&gt;&#10;            &lt;Text style={{ fontSize: 20, fontWeight: 'bold', color: '#0E3F8C' }}&gt;横向观察：家用两款小巧但腔体开放；柜式两款封闭性好却高达 1790mm+。四款无一同时满足&quot;容纳 30×25×35cm 全盔 + 封闭腔体安全联锁 + 一键交互 + 摆件化形态&quot;。&lt;/Text&gt;&#10;        &lt;/Box&gt;&#10;    &lt;/Box&gt;&#10;    &lt;Box style={{ height: 52, background: '#F7F9FC', borderTop: '1px solid #D6DCE5', flexDirection: 'row', justifyContent: 'space-between', alignItems: 'center', padding: '0 40px' }}&gt;&#10;        &lt;Text style={{ fontSize: 13, color: '#8B97A8' }}&gt;来源：头盔医生 DH-H1（六姐骑士部品商品页）、干博士 Dr.DRY DR2Y-19（monocolle 产品页）、文铭机械官网、福意联产品页；均未实测，&quot;未公开 / 未标注&quot;如实记录&lt;/Text&gt;&#10;        &lt;Text style={{ fontSize: 14, fontWeight: 'bold', color: '#1E4FA8' }}&gt;14 / 16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8" name="任意多边形 127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129" name="矩形 128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590550" y="257175"/>
            <a:ext cx="58864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竞品</a:t>
            </a:r>
            <a:r>
              <a:rPr lang="zh-CN" sz="2250" b="1">
                <a:solidFill>
                  <a:srgbClr val="0C3677"/>
                </a:solidFill>
                <a:latin typeface="Source Han Sans SC" charset="0"/>
                <a:ea typeface="Source Han Sans SC" charset="0"/>
                <a:cs typeface="Arial" panose="020B0604020202020204" pitchFamily="34" charset="0"/>
              </a:rPr>
              <a:t>参考</a:t>
            </a:r>
            <a:endParaRPr lang="zh-CN">
              <a:latin typeface="Source Han Sans SC"/>
              <a:ea typeface="Source Han Sans SC"/>
            </a:endParaRPr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graphicFrame>
        <p:nvGraphicFramePr>
          <p:cNvPr id="132" name="表格 131"/>
          <p:cNvGraphicFramePr/>
          <p:nvPr/>
        </p:nvGraphicFramePr>
        <p:xfrm>
          <a:off x="758940" y="1149277"/>
          <a:ext cx="10899775" cy="2622079"/>
        </p:xfrm>
        <a:graphic>
          <a:graphicData uri="http://schemas.openxmlformats.org/drawingml/2006/table">
            <a:tbl>
              <a:tblPr/>
              <a:tblGrid>
                <a:gridCol w="2985770"/>
                <a:gridCol w="3072765"/>
                <a:gridCol w="4841240"/>
              </a:tblGrid>
              <a:tr h="35877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</a:t>
                      </a:r>
                      <a:r>
                        <a:rPr lang="zh-CN" altLang="en-US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品牌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charset="0"/>
                          <a:ea typeface="微软雅黑" charset="0"/>
                        </a:rPr>
                        <a:t>Capit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charset="0"/>
                          <a:ea typeface="微软雅黑" charset="0"/>
                        </a:rPr>
                        <a:t>PEET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438F"/>
                    </a:solidFill>
                  </a:tcPr>
                </a:tc>
              </a:tr>
              <a:tr h="3308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竟品类型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专用头盔干燥产品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主机+附件的功能竟品 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295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核心参考价值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将头盔存放与干燥结合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模块化适配与部件维护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重点观察动作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对准、放置、取出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装配、对准、放置、取出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513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定时/时长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未标注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分钟步进，最长 90 分钟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4F9"/>
                    </a:solidFill>
                  </a:tcPr>
                </a:tc>
              </a:tr>
              <a:tr h="495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后续核对问题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不同盔型是否稳定、控件是否易触达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附件是否易装、是否容易放错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227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本项目可借鉴之处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简化取放、整合支撑与送风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charset="0"/>
                          <a:ea typeface="微软雅黑" charset="0"/>
                        </a:rPr>
                        <a:t>接触部件可拆洗、导风结构可替换</a:t>
                      </a:r>
                      <a:endParaRPr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9"/>
                    </a:solidFill>
                  </a:tcPr>
                </a:tc>
              </a:tr>
            </a:tbl>
          </a:graphicData>
        </a:graphic>
      </p:graphicFrame>
      <p:sp>
        <p:nvSpPr>
          <p:cNvPr id="135" name="矩形 134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136" name="任意多边形 135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381000" y="6543675"/>
            <a:ext cx="9115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来源：头盔医生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DH-H1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（六姐骑士部品商品页）、干博士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monocolle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产品页）、文铭机械官网、福意联产品页；均未实测，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未公开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未标注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如实记录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14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31" y="3882294"/>
            <a:ext cx="2851548" cy="21418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01" y="3771192"/>
            <a:ext cx="2136280" cy="214052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1527" t="11527" r="20052" b="4224"/>
          <a:stretch>
            <a:fillRect/>
          </a:stretch>
        </p:blipFill>
        <p:spPr>
          <a:xfrm>
            <a:off x="6097274" y="4010255"/>
            <a:ext cx="2615617" cy="20139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l="9125" t="8787" r="4563" b="5761"/>
          <a:stretch>
            <a:fillRect/>
          </a:stretch>
        </p:blipFill>
        <p:spPr>
          <a:xfrm>
            <a:off x="8774579" y="4010216"/>
            <a:ext cx="3248527" cy="20111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 descr="&lt;Slide style={{ width: 1280, height: 720, background: '#FFFFFF', fontFamily: &quot;'Source Han Sans SC','Noto Sans SC','Microsoft YaHei',sans-serif&quot; }}&gt;&#13;&#10;    &lt;Box style={{ height: 92, flexDirection: 'row', justifyContent: 'space-between', alignItems: 'center', padding: '0 40px', borderBottom: '2px solid #1E4FA8' }}&gt;&#13;&#10;        &lt;Box style={{ flexDirection: 'row', alignItems: 'center', gap: 14 }}&gt;&#13;&#10;            &lt;Box style={{ width: 8, height: 40, background: '#1E4FA8' }} /&gt;&#13;&#10;            &lt;Text style={{ fontSize: 30, fontWeight: 'bold', color: '#0E3F8C' }}&gt;人机匹配性评价与设计建议&lt;/Text&gt;&#13;&#10;        &lt;/Box&gt;&#13;&#10;        &lt;Text style={{ fontSize: 15, color: '#8B97A8' }}&gt;03 竞品分析与设计建议&lt;/Text&gt;&#13;&#10;    &lt;/Box&gt;&#13;&#10;    &lt;Box style={{ flex: 1, padding: '14px 40px', flexDirection: 'column', gap: 10 }}&gt;&#13;&#10;        &lt;Box style={{ flex: 1, flexDirection: 'row', gap: 20 }}&gt;&#13;&#10;            &lt;Box style={{ width: '58%', border: '1px solid #D6DCE5', borderRadius: 12, padding: '12px 24px', flexDirection: 'column', gap: 8 }}&gt;&#13;&#10;                &lt;Text style={{ fontSize: 24, fontWeight: 'bold', color: '#0E3F8C' }}&gt;人机匹配性评价（公开参数 × 国标数据 × brief 约束）&lt;/Text&gt;&#13;&#10;                &lt;Text style={{ fontSize: 18, color: '#1A2230', lineHeight: 1.45 }}&gt;&#13;&#10;                    &lt;span style={{ fontWeight: 'bold' }}&gt;① 安全缺口：&lt;/span&gt;家用烘干器多为开敞 / 半开敞结构——DH-H1 经销页自行警示&quot;紫外线开启时请勿长时间注视&quot;；对照 brief&quot;全封闭腔体 + 开盖自动断电&quot;的安全红线，现售家用款均未完整满足。&#13;&#10;                &lt;/Text&gt;&#13;&#10;                &lt;Text style={{ fontSize: 18, color: '#1A2230', lineHeight: 1.45 }}&gt;&#13;&#10;                    &lt;span style={{ fontWeight: 'bold' }}&gt;② 尺寸缺口：&lt;/span&gt;柜式产品腔体封闭，但整机高 1790~2025mm、重 85~140kg，进不了玄关柜、放不上车库台面；家用款虽小（160~284mm 高），却以&quot;开放晾干&quot;为主、无封闭消毒腔。&#13;&#10;                &lt;/Text&gt;&#13;&#10;                &lt;Text style={{ fontSize: 18, color: '#1A2230', lineHeight: 1.45 }}&gt;&#13;&#10;                    &lt;span style={{ fontWeight: 'bold' }}&gt;③ 取放高度缺口：&lt;/span&gt;落地使用须弯腰至手功能高（女 P5 为 646mm）以下；台面 / 支架放置使取放面落入 650~800mm 区间（见第 11 页），是更理性的使用姿态。&#13;&#10;                &lt;/Text&gt;&#13;&#10;                &lt;Text style={{ fontSize: 18, color: '#1A2230', lineHeight: 1.45 }}&gt;&#13;&#10;                    &lt;span style={{ fontWeight: 'bold' }}&gt;④ 交互缺口：&lt;/span&gt;竞品要么复杂（触摸屏 + 支付云管理），要么功能单一（纯定时烘干）；brief 的&quot;一键启动 + 灯环状态&quot;介于两者之间，是可落地的交互形态。&#13;&#10;                &lt;/Text&gt;&#13;&#10;            &lt;/Box&gt;&#13;&#10;            &lt;Box style={{ flex: 1, background: '#F0F5FC', borderRadius: 12, padding: '12px 20px', flexDirection: 'column', gap: 8 }}&gt;&#13;&#10;                &lt;Text style={{ fontSize: 22, fontWeight: 'bold', color: '#0E3F8C' }}&gt;设计建议（由数据推导）&lt;/Text&gt;&#13;&#10;                {[&#13;&#10;                    ['1', '内腔 ≥330×280×380mm：30×25×35cm 全盔外廓 + 三向约 30mm 余量'],&#13;&#10;                    ['2', '整机 ≤40×30×45cm（brief 红线），按台面 / 支架场景设计，取放面 650~800mm'],&#13;&#10;                    ['3', '全封闭腔体 + 开盖自动断电联锁，灯管覆盖内衬 / 面颊 / 下颌区'],&#13;&#10;                    ['4', '一键启动 + 灯环状态；按键按&quot;戴骑行手套按压&quot;验证行程与操作力'],&#13;&#10;                    ['5', '噪音 ≤45dB（brief）；托面与门缘做系带让位、防勾挂'],&#13;&#10;                ].map((s, i) =&gt; (&#13;&#10;                    &lt;Box key={i} style={{ flexDirection: 'row', alignItems: 'center', gap: 10, background: '#FFFFFF', borderRadius: 8, padding: '6px 12px' }}&gt;&#13;&#10;                        &lt;Text style={{ fontSize: 22, fontWeight: 'bold', color: '#1E4FA8' }}&gt;{s[0]}&lt;/Text&gt;&#13;&#10;                        &lt;Text style={{ fontSize: 18, color: '#1A2230', lineHeight: 1.35 }}&gt;{s[1]}&lt;/Text&gt;&#13;&#10;                    &lt;/Box&gt;&#13;&#10;                ))}&#13;&#10;            &lt;/Box&gt;&#13;&#10;        &lt;/Box&gt;&#13;&#10;        &lt;Box style={{ background: '#0E3F8C', borderRadius: 10, padding: '9px 26px' }}&gt;&#13;&#10;            &lt;Text style={{ fontSize: 19, fontWeight: 'bold', color: '#FFFFFF' }}&gt;理性说明：以上建议均为&quot;国标百分位数据 + brief 硬约束 + 竞品公开缺口&quot;交叉推导所得，非主观偏好；作业要求的作业姿态拍照记录将在下一阶段开展，用于校核取放高度与弯腰姿势假设。&lt;/Text&gt;&#13;&#10;        &lt;/Box&gt;&#13;&#10;    &lt;/Box&gt;&#13;&#10;    &lt;Box style={{ height: 52, background: '#F7F9FC', borderTop: '1px solid #D6DCE5', flexDirection: 'row', justifyContent: 'space-between', alignItems: 'center', padding: '0 40px' }}&gt;&#13;&#10;        &lt;Text style={{ fontSize: 13, color: '#8B97A8' }}&gt;摩托车头盔通风消毒装置 · 人机工程学前调研&lt;/Text&gt;&#13;&#10;        &lt;Text style={{ fontSize: 14, fontWeight: 'bold', color: '#1E4FA8' }}&gt;15 / 16&lt;/Text&gt;&#13;&#10;  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1" name="任意多边形 140"/>
          <p:cNvSpPr/>
          <p:nvPr/>
        </p:nvSpPr>
        <p:spPr>
          <a:xfrm>
            <a:off x="0" y="0"/>
            <a:ext cx="12192000" cy="876300"/>
          </a:xfrm>
          <a:custGeom>
            <a:avLst/>
            <a:gdLst/>
            <a:ahLst/>
            <a:cxnLst/>
            <a:pathLst>
              <a:path w="1280" h="92">
                <a:moveTo>
                  <a:pt x="0" y="90"/>
                </a:moveTo>
                <a:lnTo>
                  <a:pt x="1280" y="90"/>
                </a:lnTo>
                <a:lnTo>
                  <a:pt x="128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1A438F"/>
          </a:solidFill>
        </p:spPr>
        <p:txBody>
          <a:bodyPr/>
          <a:p/>
        </p:txBody>
      </p:sp>
      <p:sp>
        <p:nvSpPr>
          <p:cNvPr id="142" name="矩形 141"/>
          <p:cNvSpPr/>
          <p:nvPr/>
        </p:nvSpPr>
        <p:spPr>
          <a:xfrm>
            <a:off x="381000" y="238125"/>
            <a:ext cx="76200" cy="381000"/>
          </a:xfrm>
          <a:prstGeom prst="rect">
            <a:avLst/>
          </a:prstGeom>
          <a:solidFill>
            <a:srgbClr val="1A438F"/>
          </a:solidFill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590550" y="257175"/>
            <a:ext cx="3429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C3677"/>
                </a:solidFill>
                <a:latin typeface="Source Han Sans SC"/>
                <a:ea typeface="Source Han Sans SC"/>
              </a:rPr>
              <a:t>人机匹配性评价与设计建议</a:t>
            </a:r>
            <a:endParaRPr lang="zh-CN" sz="22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0344150" y="342900"/>
            <a:ext cx="1466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03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竞品分析与设计建议</a:t>
            </a:r>
            <a:endParaRPr lang="zh-CN" sz="112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381000" y="1009650"/>
            <a:ext cx="6629400" cy="4965892"/>
          </a:xfrm>
          <a:prstGeom prst="roundRect">
            <a:avLst>
              <a:gd name="adj" fmla="val 2532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609600" y="1123950"/>
            <a:ext cx="61722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C3677"/>
                </a:solidFill>
                <a:latin typeface="Source Han Sans SC"/>
                <a:ea typeface="Source Han Sans SC"/>
              </a:rPr>
              <a:t>人机匹配性评价（</a:t>
            </a:r>
            <a:r>
              <a:rPr lang="zh-CN" altLang="en-US" sz="1800" b="1">
                <a:solidFill>
                  <a:srgbClr val="0C3677"/>
                </a:solidFill>
                <a:latin typeface="Source Han Sans SC"/>
                <a:ea typeface="Source Han Sans SC"/>
              </a:rPr>
              <a:t>数据参考</a:t>
            </a:r>
            <a:r>
              <a:rPr lang="zh-CN" sz="1800" b="1">
                <a:solidFill>
                  <a:srgbClr val="0C3677"/>
                </a:solidFill>
                <a:latin typeface="Source Han Sans SC"/>
                <a:ea typeface="Source Han Sans SC"/>
              </a:rPr>
              <a:t>）</a:t>
            </a:r>
            <a:endParaRPr lang="zh-CN" sz="180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09589" y="1586991"/>
            <a:ext cx="6172200" cy="895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安全缺口：</a:t>
            </a:r>
            <a:r>
              <a:rPr lang="zh-CN" altLang="en-US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现有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家用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烘干器多为开敞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半开敞结构</a:t>
            </a: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  <a:endParaRPr lang="zh-CN" altLang="en-US" sz="1350">
              <a:solidFill>
                <a:srgbClr val="1A2230"/>
              </a:solidFill>
              <a:latin typeface="Source Han Sans SC"/>
              <a:ea typeface="Source Han Sans SC"/>
            </a:endParaRPr>
          </a:p>
          <a:p>
            <a:pPr>
              <a:lnSpc>
                <a:spcPct val="145000"/>
              </a:lnSpc>
            </a:pP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该设计定义的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全封闭腔体</a:t>
            </a:r>
            <a:r>
              <a:rPr lang="zh-CN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开盖自动断电的安全红线，现售款均未完整满足。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609589" y="2533668"/>
            <a:ext cx="6172200" cy="895350"/>
          </a:xfrm>
          <a:prstGeom prst="rect">
            <a:avLst/>
          </a:prstGeom>
        </p:spPr>
        <p:txBody>
          <a:bodyPr wrap="square" lIns="0" tIns="0" rIns="0" bIns="0">
            <a:normAutofit lnSpcReduction="10000"/>
          </a:bodyPr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尺寸缺口：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柜式产品腔体封闭，但整机高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1790~2025mm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、重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85~140kg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，进不了玄关柜、放不上车库台面；家用款虽小（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160~284mm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高），</a:t>
            </a:r>
            <a:r>
              <a:rPr lang="zh-CN" alt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以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开放晾干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为主、无封闭消毒腔。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09589" y="3714778"/>
            <a:ext cx="61722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 b="1">
                <a:solidFill>
                  <a:srgbClr val="1A2230"/>
                </a:solidFill>
                <a:latin typeface="Source Han Sans SC"/>
                <a:ea typeface="Source Han Sans SC"/>
              </a:rPr>
              <a:t>③ 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取放高度缺口：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落地使用须弯腰至手功能高（女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P5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64</a:t>
            </a:r>
            <a:r>
              <a:rPr lang="en-US" sz="135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4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）以下；台面支架放置使取放面落入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650~800mm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区间。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90508" y="4603675"/>
            <a:ext cx="6172200" cy="600075"/>
          </a:xfrm>
          <a:prstGeom prst="rect">
            <a:avLst/>
          </a:prstGeom>
        </p:spPr>
        <p:txBody>
          <a:bodyPr wrap="square" lIns="0" tIns="0" rIns="0" bIns="0">
            <a:normAutofit fontScale="90000" lnSpcReduction="10000"/>
          </a:bodyPr>
          <a:p>
            <a:pPr>
              <a:lnSpc>
                <a:spcPct val="145000"/>
              </a:lnSpc>
            </a:pPr>
            <a:r>
              <a:rPr lang="en-US" sz="1400" b="1">
                <a:solidFill>
                  <a:srgbClr val="1A2230"/>
                </a:solidFill>
                <a:latin typeface="Source Han Sans SC"/>
                <a:ea typeface="Source Han Sans SC"/>
              </a:rPr>
              <a:t>④ </a:t>
            </a:r>
            <a:r>
              <a:rPr lang="zh-CN" sz="1600" b="1">
                <a:solidFill>
                  <a:srgbClr val="1A2230"/>
                </a:solidFill>
                <a:latin typeface="Source Han Sans SC"/>
                <a:ea typeface="Source Han Sans SC"/>
              </a:rPr>
              <a:t>交互缺口</a:t>
            </a:r>
            <a:r>
              <a:rPr lang="zh-CN" sz="1350" b="1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竞品要么复杂（触摸屏），要么功能单一（纯定时烘干）</a:t>
            </a:r>
            <a:endParaRPr lang="zh-CN" sz="1600">
              <a:solidFill>
                <a:srgbClr val="1A2230"/>
              </a:solidFill>
              <a:latin typeface="Source Han Sans SC" charset="0"/>
              <a:ea typeface="Source Han Sans SC" charset="0"/>
            </a:endParaRPr>
          </a:p>
          <a:p>
            <a:pPr>
              <a:lnSpc>
                <a:spcPct val="145000"/>
              </a:lnSpc>
            </a:pP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；一键启动</a:t>
            </a:r>
            <a:r>
              <a:rPr lang="zh-CN" sz="1600">
                <a:solidFill>
                  <a:srgbClr val="1A2230"/>
                </a:solidFill>
                <a:latin typeface="Source Han Sans SC" charset="0"/>
                <a:ea typeface="Source Han Sans SC" charset="0"/>
              </a:rPr>
              <a:t>、灯环状态的设计定义介于两者之间，是可落地的交互形态。</a:t>
            </a:r>
            <a:endParaRPr lang="zh-CN" sz="1600">
              <a:solidFill>
                <a:srgbClr val="1A2230"/>
              </a:solidFill>
              <a:latin typeface="Source Han Sans SC" charset="0"/>
              <a:ea typeface="Source Han Sans SC" charset="0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7200900" y="1009650"/>
            <a:ext cx="4610100" cy="4965852"/>
          </a:xfrm>
          <a:prstGeom prst="roundRect">
            <a:avLst>
              <a:gd name="adj" fmla="val 2532"/>
            </a:avLst>
          </a:prstGeom>
          <a:solidFill>
            <a:srgbClr val="E8EFF9"/>
          </a:solidFill>
        </p:spPr>
        <p:txBody>
          <a:bodyPr/>
          <a:p/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7391400" y="1123950"/>
            <a:ext cx="42291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650" b="1">
                <a:solidFill>
                  <a:srgbClr val="0C3677"/>
                </a:solidFill>
                <a:latin typeface="Source Han Sans SC"/>
                <a:ea typeface="Source Han Sans SC"/>
              </a:rPr>
              <a:t>设计</a:t>
            </a:r>
            <a:r>
              <a:rPr lang="zh-CN" altLang="en-US" sz="1650" b="1">
                <a:solidFill>
                  <a:srgbClr val="0C3677"/>
                </a:solidFill>
                <a:latin typeface="Source Han Sans SC"/>
                <a:ea typeface="Source Han Sans SC"/>
                <a:cs typeface="Arial" panose="020B0604020202020204" pitchFamily="34" charset="0"/>
              </a:rPr>
              <a:t>基础</a:t>
            </a:r>
            <a:r>
              <a:rPr lang="zh-CN" sz="1650" b="1">
                <a:solidFill>
                  <a:srgbClr val="0C3677"/>
                </a:solidFill>
                <a:latin typeface="Source Han Sans SC"/>
                <a:ea typeface="Source Han Sans SC"/>
              </a:rPr>
              <a:t>数据</a:t>
            </a:r>
            <a:endParaRPr lang="zh-CN" sz="1650" b="1">
              <a:solidFill>
                <a:srgbClr val="0C3677"/>
              </a:solidFill>
              <a:latin typeface="Source Han Sans SC"/>
              <a:ea typeface="Source Han Sans SC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7391400" y="145732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505700" y="1666875"/>
            <a:ext cx="104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1</a:t>
            </a:r>
            <a:endParaRPr lang="en-US" sz="16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7705725" y="151447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内腔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≥330×280×380mm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30×25×35cm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全盔外廓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三向约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30mm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余量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7391400" y="2209800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7505700" y="2419350"/>
            <a:ext cx="104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2</a:t>
            </a:r>
            <a:endParaRPr lang="en-US" sz="16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7705725" y="2266950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整机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≤40×30×45cm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红线），按台面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支架场景设计，取放面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650~800mm</a:t>
            </a:r>
            <a:endParaRPr lang="en-US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7391400" y="296227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7505700" y="3171825"/>
            <a:ext cx="104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3</a:t>
            </a:r>
            <a:endParaRPr lang="en-US" sz="16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705725" y="301942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全封闭腔体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开盖自动断电联锁，灯管覆盖内衬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面颊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/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下颌区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7391400" y="3714750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505700" y="3924300"/>
            <a:ext cx="104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4</a:t>
            </a:r>
            <a:endParaRPr lang="en-US" sz="16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705725" y="3771900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一键启动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+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灯环状态；按键按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戴骑行手套按压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验证行程与操作力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7391400" y="4467225"/>
            <a:ext cx="422910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7505700" y="4676775"/>
            <a:ext cx="104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438F"/>
                </a:solidFill>
                <a:latin typeface="Source Han Sans SC"/>
                <a:ea typeface="Source Han Sans SC"/>
              </a:rPr>
              <a:t>5</a:t>
            </a:r>
            <a:endParaRPr lang="en-US" sz="16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705725" y="4524375"/>
            <a:ext cx="380047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噪音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≤45dB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brief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）；托面与门缘做系带让位、防勾挂</a:t>
            </a:r>
            <a:endParaRPr lang="zh-CN" sz="1350">
              <a:solidFill>
                <a:srgbClr val="1A2230"/>
              </a:solidFill>
              <a:latin typeface="Source Han Sans SC"/>
              <a:ea typeface="Source Han Sans SC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0" y="6372225"/>
            <a:ext cx="12192000" cy="485775"/>
          </a:xfrm>
          <a:prstGeom prst="rect">
            <a:avLst/>
          </a:prstGeom>
          <a:solidFill>
            <a:srgbClr val="F0F4F9"/>
          </a:solidFill>
        </p:spPr>
        <p:txBody>
          <a:bodyPr/>
          <a:p/>
        </p:txBody>
      </p:sp>
      <p:sp>
        <p:nvSpPr>
          <p:cNvPr id="171" name="任意多边形 170"/>
          <p:cNvSpPr/>
          <p:nvPr/>
        </p:nvSpPr>
        <p:spPr>
          <a:xfrm>
            <a:off x="0" y="6362700"/>
            <a:ext cx="12192000" cy="495300"/>
          </a:xfrm>
          <a:custGeom>
            <a:avLst/>
            <a:gdLst/>
            <a:ahLst/>
            <a:cxnLst/>
            <a:pathLst>
              <a:path w="1280" h="5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381000" y="6543675"/>
            <a:ext cx="2533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摩托车头盔通风消毒装置</a:t>
            </a:r>
            <a:r>
              <a:rPr lang="en-US" sz="97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975">
                <a:solidFill>
                  <a:srgbClr val="8B97A8"/>
                </a:solidFill>
                <a:latin typeface="Source Han Sans SC"/>
                <a:ea typeface="Source Han Sans SC"/>
              </a:rPr>
              <a:t>人机工程学前调研</a:t>
            </a:r>
            <a:endParaRPr lang="zh-CN" sz="975">
              <a:solidFill>
                <a:srgbClr val="8B97A8"/>
              </a:solidFill>
              <a:latin typeface="Source Han Sans SC"/>
              <a:ea typeface="Source Han Sans SC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11420475" y="6534150"/>
            <a:ext cx="3905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A438F"/>
                </a:solidFill>
                <a:latin typeface="Source Han Sans SC"/>
                <a:ea typeface="Source Han Sans SC"/>
              </a:rPr>
              <a:t>15 / 16</a:t>
            </a:r>
            <a:endParaRPr lang="en-US" sz="1050" b="1">
              <a:solidFill>
                <a:srgbClr val="1A438F"/>
              </a:solidFill>
              <a:latin typeface="Source Han Sans SC"/>
              <a:ea typeface="Source Han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" descr="&lt;Slide style={{ width: 1280, height: 720, background: 'linear-gradient(155deg, #0E3F8C 0%, #1E4FA8 62%, #2A5FB8 100%)', fontFamily: &quot;'Source Han Sans SC','Noto Sans SC','Microsoft YaHei',sans-serif&quot;, position: 'relative', flexDirection: 'column', justifyContent: 'center', padding: '0 120px' }}&gt;&#10;    &lt;Box style={{ position: 'absolute', top: -120, left: -100, width: 420, height: 420, borderRadius: 210, background: 'rgba(255,255,255,0.05)' }} /&gt;&#10;    &lt;Box style={{ position: 'absolute', bottom: -140, right: -110, width: 480, height: 480, borderRadius: 240, background: 'rgba(255,255,255,0.04)' }} /&gt;&#10;    &lt;Text style={{ fontSize: 46, fontWeight: 'bold', color: '#FFFFFF', letterSpacing: 4 }}&gt;结论与数据来源&lt;/Text&gt;&#10;    &lt;Box style={{ flexDirection: 'column', gap: 14, marginTop: 34 }}&gt;&#10;        &lt;Box style={{ flexDirection: 'row', alignItems: 'center', gap: 16 }}&gt;&#10;            &lt;Text style={{ fontSize: 26, fontWeight: 'bold', color: '#FFC107' }}&gt;01&lt;/Text&gt;&#10;            &lt;Text style={{ fontSize: 23, color: '#FFFFFF', lineHeight: 1.5 }}&gt;需求真实：8576 万辆摩托车保有量、大排量娱乐车型销量 +42.97% 的增长，显示摩友消费正从代步转向品质生活方式，中高端头盔的养护需求成立。&lt;/Text&gt;&#10;        &lt;/Box&gt;&#10;        &lt;Box style={{ flexDirection: 'row', alignItems: 'center', gap: 16 }}&gt;&#10;            &lt;Text style={{ fontSize: 26, fontWeight: 'bold', color: '#FFC107' }}&gt;02&lt;/Text&gt;&#10;            &lt;Text style={{ fontSize: 23, color: '#FFFFFF', lineHeight: 1.5 }}&gt;约束明确：人机设计包络取 GB/T 10000-1988 女 P5 ~ 男 P95，叠加 brief 尺寸红线（≤40×30×45cm、容纳 30×25×35cm 全盔），内腔与取放高度均可区间化推导。&lt;/Text&gt;&#10;        &lt;/Box&gt;&#10;        &lt;Box style={{ flexDirection: 'row', alignItems: 'center', gap: 16 }}&gt;&#10;            &lt;Text style={{ fontSize: 26, fontWeight: 'bold', color: '#FFC107' }}&gt;03&lt;/Text&gt;&#10;            &lt;Text style={{ fontSize: 23, color: '#FFFFFF', lineHeight: 1.5 }}&gt;差异路径：&quot;全封闭 UV 安全 + 一键交互 + 摆件化形态 + 台面尺度&quot;的组合，是现售竞品公开参数尚未同时满足的空档，即本方案的设计立足点。&lt;/Text&gt;&#10;        &lt;/Box&gt;&#10;    &lt;/Box&gt;&#10;    &lt;Box style={{ width: 1000, height: 1, background: 'rgba(255,255,255,0.35)', marginTop: 36 }} /&gt;&#10;    &lt;Box style={{ marginTop: 26 }}&gt;&#10;        &lt;Text style={{ fontSize: 19, fontWeight: 'bold', color: 'rgba(255,255,255,0.9)', marginBottom: 8 }}&gt;数据来源（全部可溯源）&lt;/Text&gt;&#10;        &lt;Text style={{ fontSize: 16, color: 'rgba(255,255,255,0.75)', lineHeight: 1.7 }}&gt;&#10;            GB/T 10000-1988《中国成年人人体尺寸》｜GB 811-2010《摩托车乘员头盔》（台州市市场监督管理局、忻州市人民政府等公开条款资料）&lt;br /&gt;&#10;            公安部交管部门统计（央视网 / 央广网报道，2025.05）｜中国摩托车商会（2024 年度数据）｜项目需求 brief《摩托车头盔通风消毒装置》（2026）&lt;br /&gt;&#10;            头盔医生 DH-H1｜干博士 Dr.DRY DR2Y-19｜文铭机械｜福意联（厂商及经销渠道公开产品页，2026.10 检索）&#10;        &lt;/Text&gt;&#10;    &lt;/Box&gt;&#10;    &lt;Text style={{ fontSize: 28, fontWeight: 'bold', color: 'rgba(255,255,255,0.85)', marginTop: 40, letterSpacing: 6 }}&gt;汇报完毕 · 敬请评审指导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 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C3677"/>
              </a:gs>
              <a:gs pos="62000">
                <a:srgbClr val="1A438F"/>
              </a:gs>
              <a:gs pos="100000">
                <a:srgbClr val="24519C"/>
              </a:gs>
            </a:gsLst>
            <a:lin ang="3900000" scaled="1"/>
          </a:gra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143000" y="419100"/>
            <a:ext cx="990600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300">
                <a:solidFill>
                  <a:srgbClr val="FFFFFF"/>
                </a:solidFill>
                <a:latin typeface="Source Han Sans SC"/>
                <a:ea typeface="Source Han Sans SC"/>
              </a:rPr>
              <a:t>结论与数据来源</a:t>
            </a:r>
            <a:endParaRPr lang="zh-CN" sz="3450" b="1" spc="300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>
            <p:custDataLst>
              <p:tags r:id="rId1"/>
            </p:custDataLst>
          </p:nvPr>
        </p:nvSpPr>
        <p:spPr>
          <a:xfrm>
            <a:off x="1143000" y="1524000"/>
            <a:ext cx="2571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01</a:t>
            </a:r>
            <a:endParaRPr lang="en-US" sz="1950" b="1">
              <a:solidFill>
                <a:srgbClr val="FFC107"/>
              </a:solidFill>
              <a:latin typeface="Source Han Sans SC"/>
              <a:ea typeface="Source Han Sans SC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1552575" y="1276350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需求真实：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8576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万辆摩托车保有量、大排量娱乐车型销量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+42.97%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的增长，显示摩友消费正从代步转向品质生活方式，中高端头盔的养护需求成立。</a:t>
            </a:r>
            <a:endParaRPr lang="zh-CN" sz="1725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143000" y="2447925"/>
            <a:ext cx="2571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02</a:t>
            </a:r>
            <a:endParaRPr lang="en-US" sz="1950" b="1">
              <a:solidFill>
                <a:srgbClr val="FFC107"/>
              </a:solidFill>
              <a:latin typeface="Source Han Sans SC"/>
              <a:ea typeface="Source Han Sans SC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552575" y="2200275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约束明确：人机设计包络取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GB/T 10000-2023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女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P5 ~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男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P95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，叠加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brief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尺寸红线（≤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40×30×45cm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、容纳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30×25×35cm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全盔），内腔与取放高度均可区间化推导。</a:t>
            </a:r>
            <a:endParaRPr lang="zh-CN" sz="1725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81" name="文本框 180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1143000" y="3371850"/>
            <a:ext cx="2571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C107"/>
                </a:solidFill>
                <a:latin typeface="Source Han Sans SC"/>
                <a:ea typeface="Source Han Sans SC"/>
              </a:rPr>
              <a:t>03</a:t>
            </a:r>
            <a:endParaRPr lang="en-US" sz="1950" b="1">
              <a:solidFill>
                <a:srgbClr val="FFC107"/>
              </a:solidFill>
              <a:latin typeface="Source Han Sans SC"/>
              <a:ea typeface="Source Han Sans SC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1552575" y="3124200"/>
            <a:ext cx="9496425" cy="790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差异路径：全封闭</a:t>
            </a:r>
            <a:r>
              <a:rPr lang="en-US" sz="1725">
                <a:solidFill>
                  <a:srgbClr val="FFFFFF"/>
                </a:solidFill>
                <a:latin typeface="Source Han Sans SC"/>
                <a:ea typeface="Source Han Sans SC"/>
              </a:rPr>
              <a:t> UV 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安全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一键交互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摆件化形态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、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台面尺度</a:t>
            </a:r>
            <a:r>
              <a:rPr lang="zh-CN" altLang="en-US" sz="1725">
                <a:solidFill>
                  <a:srgbClr val="FFFFFF"/>
                </a:solidFill>
                <a:latin typeface="Source Han Sans SC"/>
                <a:ea typeface="宋体" pitchFamily="2" charset="-122"/>
              </a:rPr>
              <a:t>合理设计</a:t>
            </a:r>
            <a:r>
              <a:rPr lang="zh-CN" sz="1725">
                <a:solidFill>
                  <a:srgbClr val="FFFFFF"/>
                </a:solidFill>
                <a:latin typeface="Source Han Sans SC"/>
                <a:ea typeface="Source Han Sans SC"/>
              </a:rPr>
              <a:t>，是现售竞品公开参数尚未同时满足的空档，即本方案的设计立足点。</a:t>
            </a:r>
            <a:endParaRPr lang="zh-CN" sz="1725">
              <a:solidFill>
                <a:srgbClr val="FFFFFF"/>
              </a:solidFill>
              <a:latin typeface="Source Han Sans SC"/>
              <a:ea typeface="Source Han Sans SC"/>
            </a:endParaRPr>
          </a:p>
        </p:txBody>
      </p:sp>
      <p:sp>
        <p:nvSpPr>
          <p:cNvPr id="183" name="矩形 182"/>
          <p:cNvSpPr/>
          <p:nvPr/>
        </p:nvSpPr>
        <p:spPr>
          <a:xfrm>
            <a:off x="1143000" y="4124325"/>
            <a:ext cx="9525000" cy="9525"/>
          </a:xfrm>
          <a:prstGeom prst="rect">
            <a:avLst/>
          </a:prstGeom>
          <a:solidFill>
            <a:srgbClr val="FFFFFF">
              <a:alpha val="35000"/>
            </a:srgbClr>
          </a:solidFill>
        </p:spPr>
        <p:txBody>
          <a:bodyPr/>
          <a:p/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143000" y="4248150"/>
            <a:ext cx="9906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数据来源</a:t>
            </a:r>
            <a:endParaRPr lang="zh-CN" sz="1425" b="1">
              <a:solidFill>
                <a:srgbClr val="FFFFFF">
                  <a:alpha val="90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143000" y="4581525"/>
            <a:ext cx="9906000" cy="146558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GB/T 10000-2023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《中国成年人人体尺寸》</a:t>
            </a:r>
            <a:endParaRPr lang="zh-CN" sz="1200">
              <a:solidFill>
                <a:srgbClr val="FFFFFF">
                  <a:alpha val="75000"/>
                </a:srgbClr>
              </a:solidFill>
              <a:latin typeface="Source Han Sans SC"/>
              <a:ea typeface="Source Han Sans SC"/>
            </a:endParaRPr>
          </a:p>
          <a:p>
            <a:pPr algn="l">
              <a:lnSpc>
                <a:spcPct val="17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GB 811-2022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</a:t>
            </a:r>
            <a:r>
              <a:rPr lang="zh-CN" alt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摩托车、电动自行车乘员头盔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》（</a:t>
            </a:r>
            <a:r>
              <a:rPr lang="zh-CN" alt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国家市场监督管理总局、国家标准化管理委员会发布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</a:t>
            </a:r>
            <a:endParaRPr lang="zh-CN" sz="1200">
              <a:solidFill>
                <a:srgbClr val="FFFFFF">
                  <a:alpha val="75000"/>
                </a:srgbClr>
              </a:solidFill>
              <a:latin typeface="Source Han Sans SC"/>
              <a:ea typeface="Source Han Sans SC"/>
            </a:endParaRPr>
          </a:p>
          <a:p>
            <a:pPr algn="l"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公安部交管部门统计（央视网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央广网报道，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2025.05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）｜中国摩托车商会（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2024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年度数据）｜项目需求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brief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《摩托车头盔通风消毒装置》（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2026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）</a:t>
            </a:r>
            <a:endParaRPr lang="zh-CN" sz="1200">
              <a:solidFill>
                <a:srgbClr val="FFFFFF">
                  <a:alpha val="75000"/>
                </a:srgbClr>
              </a:solidFill>
              <a:latin typeface="Source Han Sans SC"/>
              <a:ea typeface="Source Han Sans SC"/>
            </a:endParaRPr>
          </a:p>
          <a:p>
            <a:pPr algn="l">
              <a:lnSpc>
                <a:spcPct val="17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头盔医生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DH-H1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｜干博士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 Dr.DRY DR2Y-19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｜文铭机械｜福意联（厂商及经销渠道公开产品页，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2026.10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Source Han Sans SC"/>
                <a:ea typeface="Source Han Sans SC"/>
              </a:rPr>
              <a:t>检索）</a:t>
            </a:r>
            <a:endParaRPr lang="zh-CN" sz="1200">
              <a:solidFill>
                <a:srgbClr val="FFFFFF">
                  <a:alpha val="7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43000" y="6229350"/>
            <a:ext cx="99060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汇报完毕</a:t>
            </a:r>
            <a:r>
              <a:rPr lang="en-US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2100" b="1" spc="4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敬请评审指导</a:t>
            </a:r>
            <a:endParaRPr lang="zh-CN" sz="2100" b="1" spc="450">
              <a:solidFill>
                <a:srgbClr val="FFFFFF">
                  <a:alpha val="85000"/>
                </a:srgbClr>
              </a:solidFill>
              <a:latin typeface="Source Han Sans SC"/>
              <a:ea typeface="Source Han Sans SC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-952500" y="-1143000"/>
            <a:ext cx="4000500" cy="4000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</p:spPr>
        <p:txBody>
          <a:bodyPr/>
          <a:p/>
        </p:txBody>
      </p:sp>
      <p:sp>
        <p:nvSpPr>
          <p:cNvPr id="188" name="圆角矩形 187"/>
          <p:cNvSpPr/>
          <p:nvPr/>
        </p:nvSpPr>
        <p:spPr>
          <a:xfrm>
            <a:off x="8667750" y="3767455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7.75,&quot;left&quot;:90,&quot;top&quot;:100.5,&quot;width&quot;:780}"/>
</p:tagLst>
</file>

<file path=ppt/tags/tag2.xml><?xml version="1.0" encoding="utf-8"?>
<p:tagLst xmlns:p="http://schemas.openxmlformats.org/presentationml/2006/main">
  <p:tag name="KSO_WM_DIAGRAM_VIRTUALLY_FRAME" val="{&quot;height&quot;:207.75,&quot;left&quot;:90,&quot;top&quot;:100.5,&quot;width&quot;:780}"/>
</p:tagLst>
</file>

<file path=ppt/tags/tag3.xml><?xml version="1.0" encoding="utf-8"?>
<p:tagLst xmlns:p="http://schemas.openxmlformats.org/presentationml/2006/main">
  <p:tag name="KSO_WM_DIAGRAM_VIRTUALLY_FRAME" val="{&quot;height&quot;:207.75,&quot;left&quot;:90,&quot;top&quot;:100.5,&quot;width&quot;:780}"/>
</p:tagLst>
</file>

<file path=ppt/tags/tag4.xml><?xml version="1.0" encoding="utf-8"?>
<p:tagLst xmlns:p="http://schemas.openxmlformats.org/presentationml/2006/main">
  <p:tag name="KSO_WM_DIAGRAM_VIRTUALLY_FRAME" val="{&quot;height&quot;:207.75,&quot;left&quot;:90,&quot;top&quot;:100.5,&quot;width&quot;:780}"/>
</p:tagLst>
</file>

<file path=ppt/tags/tag5.xml><?xml version="1.0" encoding="utf-8"?>
<p:tagLst xmlns:p="http://schemas.openxmlformats.org/presentationml/2006/main">
  <p:tag name="KSO_WM_DIAGRAM_VIRTUALLY_FRAME" val="{&quot;height&quot;:207.75,&quot;left&quot;:90,&quot;top&quot;:100.5,&quot;width&quot;:780}"/>
</p:tagLst>
</file>

<file path=ppt/tags/tag6.xml><?xml version="1.0" encoding="utf-8"?>
<p:tagLst xmlns:p="http://schemas.openxmlformats.org/presentationml/2006/main">
  <p:tag name="KSO_WM_DIAGRAM_VIRTUALLY_FRAME" val="{&quot;height&quot;:207.75,&quot;left&quot;:90,&quot;top&quot;:100.5,&quot;width&quot;:78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6299</Words>
  <Application>WPS Office WWO_wpscloud_20261021145239-e2c9ed7bbe</Application>
  <PresentationFormat/>
  <Paragraphs>668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Source Han Sans SC</vt:lpstr>
      <vt:lpstr>Source Han Sans SC</vt:lpstr>
      <vt:lpstr>Calibri</vt:lpstr>
      <vt:lpstr>宋体</vt:lpstr>
      <vt:lpstr>汉仪书宋二KW</vt:lpstr>
      <vt:lpstr>微软雅黑</vt:lpstr>
      <vt:lpstr>微软雅黑</vt:lpstr>
      <vt:lpstr>Kingsoft Confetti</vt:lpstr>
      <vt:lpstr>汉仪旗黑KW 55S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JZ</cp:lastModifiedBy>
  <dcterms:created xsi:type="dcterms:W3CDTF">2026-10-25T14:28:01Z</dcterms:created>
  <dcterms:modified xsi:type="dcterms:W3CDTF">2026-10-25T14:28:01Z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FDA223C8495548609249D0998A3721DC_13</vt:lpwstr>
  </property>
  <property fmtid="{D5CDD505-2E9C-101B-9397-08002B2CF9AE}" pid="3" name="KSOProductBuildVer">
    <vt:lpwstr>2052-12.9.0.29641</vt:lpwstr>
  </property>
</Properties>
</file>