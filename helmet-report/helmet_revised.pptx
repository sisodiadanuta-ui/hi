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封面去掉商务蓝、渐变和过长英文。统一“人机工程学”。通风消毒装置为课程项目名称，不代表消毒性能已验证。删除封面混用1988/2010的标准背书。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重排目录并更正范围及17页页码。去掉“全部数据权威”“不引入任何无来源参数”等无法保证的表述。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现有1名用户视频来自本次对话先前上传资料。问卷目前未提供回收数据。本次修订未新增外部核验，也不把原稿竞品链接当已验证证据。原稿标准年份混用，精确人体百分位与质量限值暂停引用。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删除“心理账户成立”“普通通勤者需求与付费更低”“第一约束为审美”等无用户证据的推断。保留Brief中25—45岁、头盔价位作为招募假设。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替换原稿未经核实的8576万辆、875万辆、42.97%市场数据页。即便统计真实，仍不能证明养护需求与购买意愿。未将删除数字描述为数字本身已证伪。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纠正原P6和P12强制“戴手套单手托放”的推断。视频支持双手摘戴，但不证明养护装置取放方式；未加入尚待授权和隐私处理的用户照片。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原P7“核心结论”空白，且引用Brief作为问卷来源。本页改为问卷准备状态；未虚构样本、比例、饼图或用户评价。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原章节页“每一项约束均由国标百分位推导”的说法不成立。改为实物测量、任务观察和草模测试结合；人体尺寸仅为参照之一。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删除标准年份混用的头面尺寸表和规格表，不用头围推算整盔外廓。删除“女性头围对应半盔”等不成立关联。原内腔330×280×380不是可靠下限，保留其作为纠错案例；每侧15mm仅在居中同向摆放假设成立。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删除混用GB 811-2010/2022的类别与限值，未重新编造数字。CCC是合规制度，不能推断“中高端做工保障”，相关推断删除。图沿用原稿，仅示意结构；原稿未给图的原始出处，应补核。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删除640—830mm/650—800mm“舒适高度”、旧版身高肘高手功能高表，以及未验证的“不弯腰不踮脚”“平视可读”。未核对原表前不沿用男女P5/P95数字。台面高度需实测，不能以假设证明适配。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纠正原流程“启动→运行→开盖断电→干爽无异味”。闭合确认应在启动前，联锁是异常防护而不是正常停止方式；效果不作承诺。该示意不证明工程安全性，安全联锁需另行验证。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删除“公开参数×国标数据可逐一验证竞品”表述。将家用竞品与公共设备分开，图片结构观察与性能参数核验分开。未实测不作人机优劣定论。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四个原稿竞品名称作为待核查线索，并不声称型号、厂商及配置已核实。删除未取得来源页的尺寸、温度、功率、臭氧浓度与定时数字。原365nm“杀菌灯”需纠正：365nm为UV-A，不等同UV-C；不能仅凭波长推断消毒有效或安全。未找到资料不等于厂商未公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原P15 PEET“10分钟步进、最长90分钟”与P14 Dr.DRY参数相同且来源错配，删除；不能据此断言PEET实际没有该功能。页脚改为本页实际品牌。将“可拆洗”改成待检查维护方式。图片不提供性能或安全性证明。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除“现售均未满足”“市场空档”及650—800mm确定高度。30分钟和45dB明确为项目指标，非实测结果；原Brief未给声学测量条件，需补充。封闭、联锁也不能被表述为已验证安全。原始头盔外廓和整机尺寸的方向均待实测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删去原结论“需求成立”“包络明确”“竞品空档”及“汇报完毕敬请评审指导”。标准列为拟查阅而非已核实数据来源。最终报告仍缺更多用户和真实养护姿态，不能以改版代替实地调研。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3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产品设计课程  /  前期调研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01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4E5C5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4E5C5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通风消毒装置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3172968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人机工程学前期调研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087368"/>
            <a:ext cx="6035040" cy="0"/>
          </a:xfrm>
          <a:prstGeom prst="line">
            <a:avLst/>
          </a:prstGeom>
          <a:ln w="12700">
            <a:solidFill>
              <a:srgbClr val="657B6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40080" y="4352544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目标用户  /  操作动作  /  尺寸适配  /  竞品分析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875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文字与视觉修订版     2026.10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371600"/>
            <a:ext cx="3383280" cy="4443984"/>
          </a:xfrm>
          <a:prstGeom prst="rect">
            <a:avLst/>
          </a:prstGeom>
          <a:solidFill>
            <a:srgbClr val="F5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10_shape15.png"/>
          <p:cNvPicPr>
            <a:picLocks noChangeAspect="1"/>
          </p:cNvPicPr>
          <p:nvPr/>
        </p:nvPicPr>
        <p:blipFill>
          <a:blip r:embed="rId2"/>
          <a:srcRect r="64000" b="12000"/>
          <a:stretch>
            <a:fillRect/>
          </a:stretch>
        </p:blipFill>
        <p:spPr>
          <a:xfrm>
            <a:off x="8508905" y="2103120"/>
            <a:ext cx="2916108" cy="23042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31352" y="48920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研究对象：头盔的放置、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养护与再次取用。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调研范围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02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调研内容与阅读路径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本轮整理已有材料；把项目设定、观察记录和待验证问题分开呈现。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2316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目标用户与场景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478024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谁使用、在哪里使用、当前怎样养护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24871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04—07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3008376"/>
            <a:ext cx="10149840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94360" y="320954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9544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动作与尺寸适配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6440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怎样拿取、放置和查看状态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32735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08—12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794759"/>
            <a:ext cx="10149840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94360" y="399592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95928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竞品结构与操作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050791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比较使用步骤、支撑方式与维护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40599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13—15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63040" y="4581144"/>
            <a:ext cx="10149840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94360" y="478231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82312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设计方向与验证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37176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提出修改方向，保留验证依据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48463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16—17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63040" y="5367528"/>
            <a:ext cx="10149840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资料与方法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03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研究材料与证据范围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先确认材料的用途，再决定哪些内容可以写成结论。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393192"/>
          </a:xfrm>
          <a:prstGeom prst="rect">
            <a:avLst/>
          </a:prstGeom>
          <a:solidFill>
            <a:srgbClr val="E5E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91156"/>
            <a:ext cx="188274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0573" y="2391156"/>
            <a:ext cx="3874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本次可用内容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4342" y="2391156"/>
            <a:ext cx="464880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不能据此得出的结论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52928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项目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0573" y="2852928"/>
            <a:ext cx="38743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目标人群、功能与成本设定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342" y="2852928"/>
            <a:ext cx="464880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不能替代真实需求与付费意愿调研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355848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58368" y="3483864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1 名用户视频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0573" y="3483864"/>
            <a:ext cx="38743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拿取、双手摘戴、下颌处操作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4342" y="3483864"/>
            <a:ext cx="464880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未覆盖装置取放、家庭存放和清洁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986783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58368" y="4114799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问卷文本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0573" y="4114799"/>
            <a:ext cx="38743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使用习惯与需求的调查题目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4342" y="4114799"/>
            <a:ext cx="464880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未提供有效样本，不写统计结论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617719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" y="4745735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竞品图片与产品线索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0573" y="4745735"/>
            <a:ext cx="38743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初步观察结构与使用步骤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4342" y="4745735"/>
            <a:ext cx="464880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参数、效果、安全性尚未独立核验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248655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58368" y="5376671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标准与人体尺寸资料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0573" y="5376671"/>
            <a:ext cx="38743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作为后续查阅和测量依据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342" y="5376671"/>
            <a:ext cx="464880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具体条款与数据尚未核对，暂不引用数值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79591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01  /  目标用户与场景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04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目标用户与使用条件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以下来自项目 Brief，后续需要通过访谈与现场观察核对。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依据：项目 Brief“人群定位”；本页为项目设定，不是用户统计结果。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7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25—45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01568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以男性摩友为主要设定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通勤与周末骑行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73168"/>
            <a:ext cx="37490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招募时保留不同性别、身高和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居住环境，检查适配边界。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423160"/>
            <a:ext cx="0" cy="338328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184648" y="2432304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装备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935224"/>
            <a:ext cx="6309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全盔或拉力盔；Brief 设定头盔单价 2,000 元以上。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36576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4160520"/>
            <a:ext cx="6309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玄关或车库是拟议场景；是否有固定位置和电源需实地确认。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4882896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动机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5385816"/>
            <a:ext cx="6309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关注潮湿、异味和养护便利性；实际困扰及购买意愿待访谈。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01  /  目标用户与场景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05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访谈重点：问题频率、养护行为与使用条件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市场规模不能直接证明某位用户需要购买养护装置。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127248"/>
            <a:ext cx="2432304" cy="0"/>
          </a:xfrm>
          <a:prstGeom prst="line">
            <a:avLst/>
          </a:prstGeom>
          <a:ln w="16510">
            <a:solidFill>
              <a:srgbClr val="657B6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94360" y="3364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潮湿与异味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41648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最近一次是什么时候？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多久发生一次？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492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记录发生情境与影响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487168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47288" y="3127248"/>
            <a:ext cx="2432304" cy="0"/>
          </a:xfrm>
          <a:prstGeom prst="line">
            <a:avLst/>
          </a:prstGeom>
          <a:ln w="16510">
            <a:solidFill>
              <a:srgbClr val="657B6B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447288" y="3364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现有养护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4041648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目前怎样处理？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哪一步最费事？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53492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记录真实步骤与替代方法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487168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0216" y="3127248"/>
            <a:ext cx="2432304" cy="0"/>
          </a:xfrm>
          <a:prstGeom prst="line">
            <a:avLst/>
          </a:prstGeom>
          <a:ln w="16510">
            <a:solidFill>
              <a:srgbClr val="657B6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300216" y="3364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存放空间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41648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平时放在哪里？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附近是否有电源？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53492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拍照并测量可用空间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487168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53144" y="3127248"/>
            <a:ext cx="2432304" cy="0"/>
          </a:xfrm>
          <a:prstGeom prst="line">
            <a:avLst/>
          </a:prstGeom>
          <a:ln w="16510">
            <a:solidFill>
              <a:srgbClr val="657B6B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9153144" y="3364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再次佩戴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4041648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通常多久后再用？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能等待多长时间？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53492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核对护理周期是否合适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01  /  目标用户与场景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06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从已观察动作提出问题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现有视频仅记录 1 名用户，不代表全部摩友的使用方式。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依据：已提供的约 32 秒用户视频；具体扣具操作含义需向用户确认。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393192"/>
          </a:xfrm>
          <a:prstGeom prst="rect">
            <a:avLst/>
          </a:prstGeom>
          <a:solidFill>
            <a:srgbClr val="E5E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91156"/>
            <a:ext cx="22146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视频中可观察的行为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2500" y="2391156"/>
            <a:ext cx="36530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可形成的人机问题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984" y="2391156"/>
            <a:ext cx="45381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后续需要核对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52928"/>
            <a:ext cx="221467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双手抬起与摘下头盔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2500" y="2852928"/>
            <a:ext cx="36530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取放时需要怎样的双手空间？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984" y="2852928"/>
            <a:ext cx="453816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用实际头盔测试入口、支撑和抓握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419856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58368" y="3547872"/>
            <a:ext cx="221467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低头查看头盔附近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2500" y="3547872"/>
            <a:ext cx="36530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视线是否被盔体、台面遮挡？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4984" y="3547872"/>
            <a:ext cx="453816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补拍侧面，区分短暂查看与持续低头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114800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58368" y="4242816"/>
            <a:ext cx="221467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双手在下颌区域操作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2500" y="4242816"/>
            <a:ext cx="36530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系带或扣具是否干扰放置？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4984" y="4242816"/>
            <a:ext cx="453816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确认操作含义，检查系带自然下垂状态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809744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" y="4937759"/>
            <a:ext cx="221467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在车辆旁完成摘戴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2500" y="4937759"/>
            <a:ext cx="36530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家庭存放可能是另一组任务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4984" y="4937759"/>
            <a:ext cx="453816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补充到家后的存放、清洁及晾置过程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504688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603504" y="5705856"/>
            <a:ext cx="10972800" cy="347472"/>
          </a:xfrm>
          <a:prstGeom prst="rect">
            <a:avLst/>
          </a:prstGeom>
          <a:solidFill>
            <a:srgbClr val="E5E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751576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因此：不预设“戴手套、单手托放”是唯一正确方式，应比较不同操作方式。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01  /  目标用户与场景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07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问卷内容与回收状态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目前已有问卷文本；尚未提供回收数据和有效样本量。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50592"/>
            <a:ext cx="621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4505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使用与场景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59736"/>
            <a:ext cx="6720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骑行频率、头盔类型、存放位置、两次使用的间隔。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6192" y="3200400"/>
            <a:ext cx="10030968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21792" y="3438144"/>
            <a:ext cx="621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4381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问题与行为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447288"/>
            <a:ext cx="6720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过去 4 周潮湿或异味的频率、困扰程度及实际养护方式。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6192" y="4187952"/>
            <a:ext cx="10030968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1792" y="4425696"/>
            <a:ext cx="621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4425696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需求与顾虑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434840"/>
            <a:ext cx="6720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功能取舍、等待时间、空间、安全顾虑及价格接受度。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36192" y="5175504"/>
            <a:ext cx="10030968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40080" y="571500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A55D43"/>
                </a:solidFill>
                <a:latin typeface="Noto Sans CJK SC"/>
              </a:defRPr>
            </a:pPr>
            <a:r>
              <a:rPr>
                <a:ea typeface="Noto Sans CJK SC"/>
              </a:rPr>
              <a:t>结果页补充样本来源、有效人数与比例；便利抽样仅描述本样本，不推及全部摩友。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3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02  /  动作与尺寸适配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08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4E5C5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4E5C5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8016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3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尺寸验证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3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从实物测量到草模测试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000" b="0">
                <a:solidFill>
                  <a:srgbClr val="DCE2D6"/>
                </a:solidFill>
                <a:latin typeface="Noto Serif CJK SC"/>
              </a:defRPr>
            </a:pPr>
            <a:r>
              <a:rPr>
                <a:ea typeface="Noto Serif CJK SC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206240"/>
            <a:ext cx="3337559" cy="0"/>
          </a:xfrm>
          <a:prstGeom prst="line">
            <a:avLst/>
          </a:prstGeom>
          <a:ln w="12700">
            <a:solidFill>
              <a:srgbClr val="657B6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40080" y="4498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量实际头盔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76088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外廓、质量、系带、附件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35204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000" b="0">
                <a:solidFill>
                  <a:srgbClr val="DCE2D6"/>
                </a:solidFill>
                <a:latin typeface="Noto Serif CJK SC"/>
              </a:defRPr>
            </a:pPr>
            <a:r>
              <a:rPr>
                <a:ea typeface="Noto Serif CJK SC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16552" y="4206240"/>
            <a:ext cx="3337560" cy="0"/>
          </a:xfrm>
          <a:prstGeom prst="line">
            <a:avLst/>
          </a:prstGeom>
          <a:ln w="12700">
            <a:solidFill>
              <a:srgbClr val="657B6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416552" y="4498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看完整任务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5276088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抓握、对准、放置、启动、取出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35204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000" b="0">
                <a:solidFill>
                  <a:srgbClr val="DCE2D6"/>
                </a:solidFill>
                <a:latin typeface="Noto Serif CJK SC"/>
              </a:defRPr>
            </a:pPr>
            <a:r>
              <a:rPr>
                <a:ea typeface="Noto Serif CJK SC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93023" y="4206240"/>
            <a:ext cx="3337561" cy="0"/>
          </a:xfrm>
          <a:prstGeom prst="line">
            <a:avLst/>
          </a:prstGeom>
          <a:ln w="12700">
            <a:solidFill>
              <a:srgbClr val="657B6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193023" y="4498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做草模验证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5276088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不同台面、盔型与用户姿态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02  /  动作与尺寸适配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09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头盔外廓与内腔空间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Brief：头盔约 300×250×350 mm；整机建议不超过 400×300×450 mm。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依据：项目 Brief“尺寸适配”。图为同向摆放的尺寸关系示意，不按比例，不是定型尺寸。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50592"/>
            <a:ext cx="464515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ED3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2980944"/>
            <a:ext cx="3566160" cy="2286000"/>
          </a:xfrm>
          <a:prstGeom prst="rect">
            <a:avLst/>
          </a:prstGeom>
          <a:solidFill>
            <a:srgbClr val="E5E9E1"/>
          </a:solidFill>
          <a:ln w="10160">
            <a:solidFill>
              <a:srgbClr val="657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3200400"/>
            <a:ext cx="3108960" cy="1828800"/>
          </a:xfrm>
          <a:prstGeom prst="rect">
            <a:avLst/>
          </a:prstGeom>
          <a:solidFill>
            <a:srgbClr val="F5F3ED"/>
          </a:solidFill>
          <a:ln w="10160">
            <a:solidFill>
              <a:srgbClr val="657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786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整机边界示意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3685032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实际头盔外廓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＋附件与系带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3310128"/>
            <a:ext cx="356616" cy="0"/>
          </a:xfrm>
          <a:prstGeom prst="line">
            <a:avLst/>
          </a:prstGeom>
          <a:ln w="25400">
            <a:solidFill>
              <a:srgbClr val="A55D43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4535424" y="3310128"/>
            <a:ext cx="329184" cy="0"/>
          </a:xfrm>
          <a:prstGeom prst="line">
            <a:avLst/>
          </a:prstGeom>
          <a:ln w="25400">
            <a:solidFill>
              <a:srgbClr val="A55D43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234440" y="542239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外壳、风道与手部空间均需计入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52374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先测实物，再确定开口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3026663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头围不能直接换算整盔外形；全盔、揭面盔及附加设备需分别测量。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822191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余量需按两侧分配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4325112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例如：某方向总增 30 mm，若居中分配，每侧间隙为 15 mm。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内腔尺寸仍需草模确认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5623559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开口、手部、支架及结构均会占用空间；需检查各方向净空，再确定内腔下限。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02  /  动作与尺寸适配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10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取放负担：质量之外，还要看距离与抓握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使用实际头盔称量；标准质量限值不等于用户手中头盔的实际质量。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23160"/>
            <a:ext cx="571500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10_shap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75158"/>
            <a:ext cx="5321808" cy="172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" y="5312664"/>
            <a:ext cx="54406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全盔、3/4 盔与半盔结构不同。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实际支撑和接触位置需逐一测试。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4144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记录实际质量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44368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包含通讯器、运动相机等常用附件。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5661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记录水平距离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06908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观察头盔离身体多远、是否伸臂承托。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6908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检查系带干涉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193792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查看是否勾挂支架、门缘，是否需要额外收纳。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02  /  动作与尺寸适配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11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操作高度由台面、装置和抓握点共同决定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不把“手功能高”直接当作舒适取放高度；显示位置低于眼高，也不等于容易看清。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5577840"/>
            <a:ext cx="5029200" cy="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3163824" y="3867912"/>
            <a:ext cx="2267712" cy="146304"/>
          </a:xfrm>
          <a:prstGeom prst="rect">
            <a:avLst/>
          </a:prstGeom>
          <a:solidFill>
            <a:srgbClr val="293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364992" y="4014215"/>
            <a:ext cx="0" cy="1563625"/>
          </a:xfrm>
          <a:prstGeom prst="line">
            <a:avLst/>
          </a:prstGeom>
          <a:ln w="21590">
            <a:solidFill>
              <a:srgbClr val="29322F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5230368" y="4014215"/>
            <a:ext cx="0" cy="1563625"/>
          </a:xfrm>
          <a:prstGeom prst="line">
            <a:avLst/>
          </a:prstGeom>
          <a:ln w="21590">
            <a:solidFill>
              <a:srgbClr val="29322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3776472" y="2551176"/>
            <a:ext cx="1426464" cy="1307592"/>
          </a:xfrm>
          <a:prstGeom prst="rect">
            <a:avLst/>
          </a:prstGeom>
          <a:solidFill>
            <a:srgbClr val="E5E9E1"/>
          </a:solidFill>
          <a:ln w="10160">
            <a:solidFill>
              <a:srgbClr val="657B6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014215" y="2880360"/>
            <a:ext cx="960121" cy="0"/>
          </a:xfrm>
          <a:prstGeom prst="line">
            <a:avLst/>
          </a:prstGeom>
          <a:ln w="12700">
            <a:solidFill>
              <a:srgbClr val="657B6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1335024" y="2340864"/>
            <a:ext cx="438912" cy="438912"/>
          </a:xfrm>
          <a:prstGeom prst="ellipse">
            <a:avLst/>
          </a:prstGeom>
          <a:solidFill>
            <a:srgbClr val="657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554480" y="2852928"/>
            <a:ext cx="182880" cy="1252728"/>
          </a:xfrm>
          <a:prstGeom prst="line">
            <a:avLst/>
          </a:prstGeom>
          <a:ln w="50800">
            <a:solidFill>
              <a:srgbClr val="657B6B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1426464" y="4105656"/>
            <a:ext cx="310896" cy="1426464"/>
          </a:xfrm>
          <a:prstGeom prst="line">
            <a:avLst/>
          </a:prstGeom>
          <a:ln w="38100">
            <a:solidFill>
              <a:srgbClr val="657B6B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737360" y="4105656"/>
            <a:ext cx="310896" cy="1426464"/>
          </a:xfrm>
          <a:prstGeom prst="line">
            <a:avLst/>
          </a:prstGeom>
          <a:ln w="38100">
            <a:solidFill>
              <a:srgbClr val="657B6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645920" y="3145536"/>
            <a:ext cx="704088" cy="429768"/>
          </a:xfrm>
          <a:prstGeom prst="line">
            <a:avLst/>
          </a:prstGeom>
          <a:ln w="38100">
            <a:solidFill>
              <a:srgbClr val="657B6B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350008" y="3410712"/>
            <a:ext cx="1170432" cy="164592"/>
          </a:xfrm>
          <a:prstGeom prst="line">
            <a:avLst/>
          </a:prstGeom>
          <a:ln w="38100">
            <a:solidFill>
              <a:srgbClr val="657B6B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783080" y="2578608"/>
            <a:ext cx="3063240" cy="301752"/>
          </a:xfrm>
          <a:prstGeom prst="line">
            <a:avLst/>
          </a:prstGeom>
          <a:ln w="12700">
            <a:solidFill>
              <a:srgbClr val="68716B"/>
            </a:solidFill>
            <a:prstDash val="dash"/>
          </a:ln>
        </p:spPr>
      </p:cxnSp>
      <p:cxnSp>
        <p:nvCxnSpPr>
          <p:cNvPr id="22" name="Connector 21"/>
          <p:cNvCxnSpPr/>
          <p:nvPr/>
        </p:nvCxnSpPr>
        <p:spPr>
          <a:xfrm>
            <a:off x="2816352" y="3886200"/>
            <a:ext cx="0" cy="1682496"/>
          </a:xfrm>
          <a:prstGeom prst="line">
            <a:avLst/>
          </a:prstGeom>
          <a:ln w="12700">
            <a:solidFill>
              <a:srgbClr val="A55D43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2103120" y="4608576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A55D43"/>
                </a:solidFill>
                <a:latin typeface="Noto Sans CJK SC"/>
              </a:defRPr>
            </a:pPr>
            <a:r>
              <a:rPr>
                <a:ea typeface="Noto Sans CJK SC"/>
              </a:rPr>
              <a:t>H₁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59552" y="3383280"/>
            <a:ext cx="0" cy="2185416"/>
          </a:xfrm>
          <a:prstGeom prst="line">
            <a:avLst/>
          </a:prstGeom>
          <a:ln w="12700">
            <a:solidFill>
              <a:srgbClr val="A55D43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596128" y="437083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A55D43"/>
                </a:solidFill>
                <a:latin typeface="Noto Sans CJK SC"/>
              </a:defRPr>
            </a:pPr>
            <a:r>
              <a:rPr>
                <a:ea typeface="Noto Sans CJK SC"/>
              </a:rPr>
              <a:t>H₂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06440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概念示意，不按比例；用于标记测量点。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4505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H₁  台面高度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953512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测量玄关、车库或桌面的真实高度和深度。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64845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H₂  离地抓握高度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151376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结合台面、支架高度与头盔抓握点测量。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846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同时检查姿态与视线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3492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记录弯腰、耸肩、手腕偏转，以及按键和灯环的可见性。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02  /  动作与尺寸适配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12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拟议流程：把放置、启动和安全确认分开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以封闭式方案为例；这是待验证的任务流程，不是已完成的用户测试。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145536"/>
            <a:ext cx="1627632" cy="0"/>
          </a:xfrm>
          <a:prstGeom prst="line">
            <a:avLst/>
          </a:prstGeom>
          <a:ln w="17780">
            <a:solidFill>
              <a:srgbClr val="657B6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34015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放入头盔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6824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对准支架，确认稳定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8437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5059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3145536"/>
            <a:ext cx="1627632" cy="0"/>
          </a:xfrm>
          <a:prstGeom prst="line">
            <a:avLst/>
          </a:prstGeom>
          <a:ln w="17780">
            <a:solidFill>
              <a:srgbClr val="657B6B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2560320" y="34015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关闭防护罩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023360"/>
            <a:ext cx="16824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检查闭合与放置状态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28437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45059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3145536"/>
            <a:ext cx="1627632" cy="0"/>
          </a:xfrm>
          <a:prstGeom prst="line">
            <a:avLst/>
          </a:prstGeom>
          <a:ln w="17780">
            <a:solidFill>
              <a:srgbClr val="657B6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480560" y="34015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按键启动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23360"/>
            <a:ext cx="16824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立即给出运行反馈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8437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5059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3145536"/>
            <a:ext cx="1627632" cy="0"/>
          </a:xfrm>
          <a:prstGeom prst="line">
            <a:avLst/>
          </a:prstGeom>
          <a:ln w="17780">
            <a:solidFill>
              <a:srgbClr val="657B6B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0" y="34015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护理运行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16824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可查看状态与取消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28437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5059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0" y="3145536"/>
            <a:ext cx="1627632" cy="0"/>
          </a:xfrm>
          <a:prstGeom prst="line">
            <a:avLst/>
          </a:prstGeom>
          <a:ln w="17780">
            <a:solidFill>
              <a:srgbClr val="657B6B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321040" y="34015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完成或停止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023360"/>
            <a:ext cx="16824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确认护理已停止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8437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450592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0">
                <a:solidFill>
                  <a:srgbClr val="657B6B"/>
                </a:solidFill>
                <a:latin typeface="Noto Serif CJK SC"/>
              </a:defRPr>
            </a:pPr>
            <a:r>
              <a:rPr>
                <a:ea typeface="Noto Serif CJK SC"/>
              </a:rPr>
              <a:t>06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41280" y="3145536"/>
            <a:ext cx="1627631" cy="0"/>
          </a:xfrm>
          <a:prstGeom prst="line">
            <a:avLst/>
          </a:prstGeom>
          <a:ln w="17780">
            <a:solidFill>
              <a:srgbClr val="657B6B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10241280" y="34015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打开并取出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023360"/>
            <a:ext cx="16824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检查抓握与系带干涉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138928"/>
            <a:ext cx="10972800" cy="676656"/>
          </a:xfrm>
          <a:prstGeom prst="rect">
            <a:avLst/>
          </a:prstGeom>
          <a:solidFill>
            <a:srgbClr val="E5E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28523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异常分支：中途开盖／异常 → 立即关闭紫外模块 → 排除问题 → 重新确认后才能启动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8932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观察指标：完成时间、调整次数、碰撞或勾挂、求助、状态判断正确率。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3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03  /  竞品结构与操作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13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4E5C5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4E5C5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B8C3B6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4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竞品比较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4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取放、操作与维护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2783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DCE2D6"/>
                </a:solidFill>
                <a:latin typeface="Noto Serif CJK SC"/>
              </a:defRPr>
            </a:pPr>
            <a:r>
              <a:rPr>
                <a:ea typeface="Noto Serif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6" y="322783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取放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3255263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入口方向、双手空间、头盔稳定性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3813048"/>
            <a:ext cx="9875520" cy="0"/>
          </a:xfrm>
          <a:prstGeom prst="line">
            <a:avLst/>
          </a:prstGeom>
          <a:ln w="12700">
            <a:solidFill>
              <a:srgbClr val="4E5C5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67512" y="4023359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DCE2D6"/>
                </a:solidFill>
                <a:latin typeface="Noto Serif CJK SC"/>
              </a:defRPr>
            </a:pPr>
            <a:r>
              <a:rPr>
                <a:ea typeface="Noto Serif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5336" y="4023359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4050791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启动、取消、状态识别、误操作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54480" y="4608575"/>
            <a:ext cx="9875520" cy="0"/>
          </a:xfrm>
          <a:prstGeom prst="line">
            <a:avLst/>
          </a:prstGeom>
          <a:ln w="12700">
            <a:solidFill>
              <a:srgbClr val="4E5C5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67512" y="481888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DCE2D6"/>
                </a:solidFill>
                <a:latin typeface="Noto Serif CJK SC"/>
              </a:defRPr>
            </a:pPr>
            <a:r>
              <a:rPr>
                <a:ea typeface="Noto Serif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481888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3ED"/>
                </a:solidFill>
                <a:latin typeface="Noto Sans CJK SC"/>
              </a:defRPr>
            </a:pPr>
            <a:r>
              <a:rPr>
                <a:ea typeface="Noto Sans CJK SC"/>
              </a:rPr>
              <a:t>维护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846320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DCE2D6"/>
                </a:solidFill>
                <a:latin typeface="Noto Sans CJK SC"/>
              </a:defRPr>
            </a:pPr>
            <a:r>
              <a:rPr>
                <a:ea typeface="Noto Sans CJK SC"/>
              </a:rPr>
              <a:t>接触部位清洁、附件拆装与收纳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4480" y="5404103"/>
            <a:ext cx="9875520" cy="0"/>
          </a:xfrm>
          <a:prstGeom prst="line">
            <a:avLst/>
          </a:prstGeom>
          <a:ln w="12700">
            <a:solidFill>
              <a:srgbClr val="4E5C51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03  /  竞品结构与操作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14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四款产品的使用场景与资料状态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按结构和任务初步对照；精确参数需按型号、配置和原始说明核对。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资料线索：六姐骑士部品、monocolle、文铭机械、福意联；型号、配置及来源页待逐项核对。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64240" cy="393192"/>
          </a:xfrm>
          <a:prstGeom prst="rect">
            <a:avLst/>
          </a:prstGeom>
          <a:solidFill>
            <a:srgbClr val="E5E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45436"/>
            <a:ext cx="243596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产品线索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3785" y="2345436"/>
            <a:ext cx="210403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结构与场景线索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6" y="2345436"/>
            <a:ext cx="27678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适合比较的任务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4620" y="2345436"/>
            <a:ext cx="287853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仍需核对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07208"/>
            <a:ext cx="243596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头盔医生 DH-H1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3785" y="2807208"/>
            <a:ext cx="210403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台式烘干装置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7276" y="2807208"/>
            <a:ext cx="276788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放置方向、按键与支撑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4620" y="2807208"/>
            <a:ext cx="287853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型号、尺寸、送风及光源配置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337560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58368" y="3465576"/>
            <a:ext cx="243596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Dr.DRY DR2Y-19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3785" y="3465576"/>
            <a:ext cx="210403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支架式干燥装置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7276" y="3465576"/>
            <a:ext cx="276788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头盔定位、调节和定时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4620" y="3465576"/>
            <a:ext cx="287853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型号、温度、光源及操作说明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995928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58368" y="4123944"/>
            <a:ext cx="243596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文铭 WM-TKX-1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3785" y="4123944"/>
            <a:ext cx="210403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公共自助设备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4123944"/>
            <a:ext cx="276788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投放、启动、提示与取回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4620" y="4123944"/>
            <a:ext cx="287853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具体配置、流程与维护方式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654296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58368" y="4782312"/>
            <a:ext cx="243596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福意联头盔消毒柜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3785" y="4782312"/>
            <a:ext cx="210403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机构用柜式设备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7276" y="4782312"/>
            <a:ext cx="276788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开门、取放和多件管理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4620" y="4782312"/>
            <a:ext cx="2878531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确切型号、尺寸与适用范围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312664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658368" y="5577840"/>
            <a:ext cx="10863072" cy="0"/>
          </a:xfrm>
          <a:prstGeom prst="line">
            <a:avLst/>
          </a:prstGeom>
          <a:ln w="12700">
            <a:solidFill>
              <a:srgbClr val="A55D43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85800" y="5715000"/>
            <a:ext cx="108813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A55D43"/>
                </a:solidFill>
                <a:latin typeface="Noto Sans CJK SC"/>
              </a:defRPr>
            </a:pPr>
            <a:r>
              <a:rPr>
                <a:ea typeface="Noto Sans CJK SC"/>
              </a:rPr>
              <a:t>注意：365 nm 属于 UV-A，不能等同 UV-C；光源波长也不能单独证明消毒效果。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03  /  竞品结构与操作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15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Capit 与 PEET：两种结构思路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本页基于产品图片作初步观察；具体型号、适配性与功能参数仍需查阅说明书。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图片：Capit 产品图；PEET Helmet DryPort 页面截图。未实测，图片原链接与使用许可待补。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8" y="2331720"/>
            <a:ext cx="0" cy="3749040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67512" y="23408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Capit  /  专用头盔干燥结构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4086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PEET  /  主机与附件组合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926080"/>
            <a:ext cx="502920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15_shap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2990088"/>
            <a:ext cx="2072640" cy="1554480"/>
          </a:xfrm>
          <a:prstGeom prst="rect">
            <a:avLst/>
          </a:prstGeom>
        </p:spPr>
      </p:pic>
      <p:pic>
        <p:nvPicPr>
          <p:cNvPr id="14" name="Picture 13" descr="s15_shape11.png"/>
          <p:cNvPicPr>
            <a:picLocks noChangeAspect="1"/>
          </p:cNvPicPr>
          <p:nvPr/>
        </p:nvPicPr>
        <p:blipFill>
          <a:blip r:embed="rId3"/>
          <a:srcRect b="8000"/>
          <a:stretch>
            <a:fillRect/>
          </a:stretch>
        </p:blipFill>
        <p:spPr>
          <a:xfrm>
            <a:off x="3712463" y="3014776"/>
            <a:ext cx="1645920" cy="1514246"/>
          </a:xfrm>
          <a:prstGeom prst="rect">
            <a:avLst/>
          </a:prstGeom>
        </p:spPr>
      </p:pic>
      <p:pic>
        <p:nvPicPr>
          <p:cNvPr id="15" name="Picture 14" descr="s15_shape12.png"/>
          <p:cNvPicPr>
            <a:picLocks noChangeAspect="1"/>
          </p:cNvPicPr>
          <p:nvPr/>
        </p:nvPicPr>
        <p:blipFill>
          <a:blip r:embed="rId4"/>
          <a:srcRect l="24000" t="20000" r="29000" b="14000"/>
          <a:stretch>
            <a:fillRect/>
          </a:stretch>
        </p:blipFill>
        <p:spPr>
          <a:xfrm>
            <a:off x="6636964" y="2926080"/>
            <a:ext cx="1969118" cy="1728216"/>
          </a:xfrm>
          <a:prstGeom prst="rect">
            <a:avLst/>
          </a:prstGeom>
        </p:spPr>
      </p:pic>
      <p:pic>
        <p:nvPicPr>
          <p:cNvPr id="16" name="Picture 15" descr="s15_shape13.png"/>
          <p:cNvPicPr>
            <a:picLocks noChangeAspect="1"/>
          </p:cNvPicPr>
          <p:nvPr/>
        </p:nvPicPr>
        <p:blipFill>
          <a:blip r:embed="rId5"/>
          <a:srcRect l="15000" t="16000" r="15000" b="14000"/>
          <a:stretch>
            <a:fillRect/>
          </a:stretch>
        </p:blipFill>
        <p:spPr>
          <a:xfrm>
            <a:off x="8851392" y="2975800"/>
            <a:ext cx="2606040" cy="1628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" y="4901184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可观察：头盔与底座的直接放置关系。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待检查：支撑稳定性、双手空间、盔型适配。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01184"/>
            <a:ext cx="50749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可观察：附件与主机的组合关系。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待检查：装配步骤、连接牢固性、维护方式。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824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借鉴方向：减少对准和反复调整。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8247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借鉴方向：支撑、导风与维护分件考虑。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设计方向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16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把初步方向写成可以验证的要求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项目指标保留为设计输入；舒适性、性能和安全结论需要分别验证。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9424"/>
            <a:ext cx="11064240" cy="393192"/>
          </a:xfrm>
          <a:prstGeom prst="rect">
            <a:avLst/>
          </a:prstGeom>
          <a:solidFill>
            <a:srgbClr val="E5E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08860"/>
            <a:ext cx="188274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设计方向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0573" y="2308860"/>
            <a:ext cx="45381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当前拟采取的做法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8196" y="2308860"/>
            <a:ext cx="39849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验证方式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70632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取放与适配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0573" y="2770632"/>
            <a:ext cx="453816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实测头盔外廓，预留双手与系带空间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8196" y="2770632"/>
            <a:ext cx="3984955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不同盔型草模测试；时间、碰撞与调整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73552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58368" y="3401568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姿态与触达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0573" y="3401568"/>
            <a:ext cx="453816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按实际台面安排支架、按键和状态显示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196" y="3401568"/>
            <a:ext cx="3984955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正侧面录像；检查弯腰、伸手与可见性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904487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58368" y="4032503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操作与反馈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0573" y="4032503"/>
            <a:ext cx="453816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简化启动与取消，明确区分运行和完成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8196" y="4032503"/>
            <a:ext cx="3984955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首次任务成功率、重复按压、状态判断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535423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" y="4663439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通风与噪声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0573" y="4663439"/>
            <a:ext cx="453816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按 Brief：30 分钟内明显降低内衬湿度；≤45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8196" y="4663439"/>
            <a:ext cx="3984955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独立测干燥表现；明确声学权重、距离及背景噪声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166359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58368" y="5294375"/>
            <a:ext cx="188274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紫外防护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0573" y="5294375"/>
            <a:ext cx="453816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采用遮蔽与联锁等防护，开盖立即关闭紫外模块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8196" y="5294375"/>
            <a:ext cx="3984955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无有害暴露的交互测试＋专业工程验证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797295"/>
            <a:ext cx="11064240" cy="0"/>
          </a:xfrm>
          <a:prstGeom prst="line">
            <a:avLst/>
          </a:prstGeom>
          <a:ln w="7620">
            <a:solidFill>
              <a:srgbClr val="CED3CB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58368" y="594360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Brief 另设整机建议上限 400×300×450 mm；满足外形尺寸并不代表内部结构已经可行。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结语与资料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704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17 / 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04088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02920" y="941832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初步结论与待补充资料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8890">
            <a:solidFill>
              <a:srgbClr val="CED3C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02920" y="646480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摩托车头盔通风消毒装置  /  人机工程学前期调研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993392"/>
            <a:ext cx="6812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0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下一步：补齐存放记录，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30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开展草模取放测试。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355848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已有依据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858768"/>
            <a:ext cx="6263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项目 Brief、1 名用户摘戴视频、竞品图片与资料线索。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590288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9322F"/>
                </a:solidFill>
                <a:latin typeface="Noto Sans CJK SC"/>
              </a:defRPr>
            </a:pPr>
            <a:r>
              <a:rPr>
                <a:ea typeface="Noto Sans CJK SC"/>
              </a:rPr>
              <a:t>下一步补齐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093207"/>
            <a:ext cx="6263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真实存放与养护记录、头盔及台面测量、更多用户、问卷回收和草模测试。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79792" y="2029968"/>
            <a:ext cx="0" cy="3959352"/>
          </a:xfrm>
          <a:prstGeom prst="line">
            <a:avLst/>
          </a:prstGeom>
          <a:ln w="12700">
            <a:solidFill>
              <a:srgbClr val="CED3C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845552" y="20391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57B6B"/>
                </a:solidFill>
                <a:latin typeface="Noto Sans CJK SC"/>
              </a:defRPr>
            </a:pPr>
            <a:r>
              <a:rPr>
                <a:ea typeface="Noto Sans CJK SC"/>
              </a:rPr>
              <a:t>本轮资料状态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542032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已使用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项目 Brief；已提供用户视频；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竞品图片与产品线索。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813048"/>
            <a:ext cx="37033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拟核对标准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GB/T 10000—2023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《中国成年人人体尺寸》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GB 811—2022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《摩托车、电动自行车乘员头盔》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349240"/>
            <a:ext cx="370332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竞品需补原始页面、对应型号、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8716B"/>
                </a:solidFill>
                <a:latin typeface="Noto Sans CJK SC"/>
              </a:defRPr>
            </a:pPr>
            <a:r>
              <a:rPr>
                <a:ea typeface="Noto Sans CJK SC"/>
              </a:rPr>
              <a:t>查询日期与关键参数出处。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摩托车头盔通风消毒装置｜人机工程学前期调研</dc:title>
  <dc:subject>视觉与文字修订；保留项目输入，纠正来源、推断及参数问题</dc:subject>
  <dc:creator/>
  <cp:keywords>人机工程学, 头盔养护, 前期调研, 修订版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